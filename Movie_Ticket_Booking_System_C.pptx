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ddcaf0e-59f3-d1ee-13cd-7aae7cb5e36b}">
          <p14:sldIdLst>
            <p14:sldId id="256"/>
            <p14:sldId id="257"/>
            <p14:sldId id="258"/>
            <p14:sldId id="259"/>
          </p14:sldIdLst>
        </p14:section>
        <p14:section name="Design" id="{05beed71-da0e-f0bc-f136-b16b72be0d77}">
          <p14:sldIdLst>
            <p14:sldId id="260"/>
            <p14:sldId id="261"/>
            <p14:sldId id="262"/>
          </p14:sldIdLst>
        </p14:section>
        <p14:section name="Source Code" id="{95f4137a-1db8-4b89-17a5-b4ac137011d7}">
          <p14:sldIdLst>
            <p14:sldId id="263"/>
            <p14:sldId id="264"/>
            <p14:sldId id="265"/>
          </p14:sldIdLst>
        </p14:section>
        <p14:section name="Explanation" id="{36c703d5-7814-f2b9-74db-6a23d68055b3}">
          <p14:sldIdLst>
            <p14:sldId id="266"/>
            <p14:sldId id="267"/>
            <p14:sldId id="268"/>
          </p14:sldIdLst>
        </p14:section>
        <p14:section name="Analysis" id="{d7d5c2e7-390c-7c97-340c-fb1ae537882d}">
          <p14:sldIdLst>
            <p14:sldId id="269"/>
            <p14:sldId id="270"/>
          </p14:sldIdLst>
        </p14:section>
        <p14:section name="Results" id="{fd58f6a1-5056-ee9f-543c-13744b7a063b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in your name, roll number, course, subject, faculty and college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program is menu driven: the user keeps choosing options until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 stores pending bookings (front and rear). Stack stores cancelled tickets (top).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Options 1 to 4 return to the menu. Option 5 prints a thank-you message and ends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algorithm in order. Steps 6 to 8 are the cancel operation: search, push,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point: push is used (top++ and stack[top] = queue[i]). Pop is NOT used. The program only reads stack[top].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search = checking one by one from front to rear. Binary search needs a sorted array, and the ticket numbers are not kept sorted.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O(1) means constant time. O(N) means the work grows with the number of pending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6583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Online Movie Ticket Booking System  |  Queue and Stack in 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56248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73152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ONLINE MOVIE TICKET BOOKING SYSTEM</a:t>
            </a:r>
            <a:endParaRPr lang="en-US" sz="4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377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Implementation of Queue and Stack Using C</a:t>
            </a:r>
            <a:endParaRPr lang="en-US" sz="2200" dirty="0"/>
          </a:p>
        </p:txBody>
      </p:sp>
      <p:sp>
        <p:nvSpPr>
          <p:cNvPr id="4" name="Student Name label"/>
          <p:cNvSpPr txBox="1"/>
          <p:nvPr/>
        </p:nvSpPr>
        <p:spPr>
          <a:xfrm>
            <a:off x="548640" y="3429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STUDENT NAME</a:t>
            </a:r>
            <a:endParaRPr lang="en-US" sz="1200" dirty="0"/>
          </a:p>
        </p:txBody>
      </p:sp>
      <p:sp>
        <p:nvSpPr>
          <p:cNvPr id="5" name="Student Name placeholder"/>
          <p:cNvSpPr txBox="1"/>
          <p:nvPr/>
        </p:nvSpPr>
        <p:spPr>
          <a:xfrm>
            <a:off x="5486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[Your Full Name]</a:t>
            </a:r>
            <a:endParaRPr lang="en-US" sz="1800" dirty="0"/>
          </a:p>
        </p:txBody>
      </p:sp>
      <p:sp>
        <p:nvSpPr>
          <p:cNvPr id="6" name="Roll Number label"/>
          <p:cNvSpPr txBox="1"/>
          <p:nvPr/>
        </p:nvSpPr>
        <p:spPr>
          <a:xfrm>
            <a:off x="3977640" y="3429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ROLL NUMBER</a:t>
            </a:r>
            <a:endParaRPr lang="en-US" sz="1200" dirty="0"/>
          </a:p>
        </p:txBody>
      </p:sp>
      <p:sp>
        <p:nvSpPr>
          <p:cNvPr id="7" name="Roll Number placeholder"/>
          <p:cNvSpPr txBox="1"/>
          <p:nvPr/>
        </p:nvSpPr>
        <p:spPr>
          <a:xfrm>
            <a:off x="39776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[Roll Number]</a:t>
            </a:r>
            <a:endParaRPr lang="en-US" sz="1800" dirty="0"/>
          </a:p>
        </p:txBody>
      </p:sp>
      <p:sp>
        <p:nvSpPr>
          <p:cNvPr id="8" name="Course label"/>
          <p:cNvSpPr txBox="1"/>
          <p:nvPr/>
        </p:nvSpPr>
        <p:spPr>
          <a:xfrm>
            <a:off x="548640" y="4343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COURSE</a:t>
            </a:r>
            <a:endParaRPr lang="en-US" sz="1200" dirty="0"/>
          </a:p>
        </p:txBody>
      </p:sp>
      <p:sp>
        <p:nvSpPr>
          <p:cNvPr id="9" name="Course placeholder"/>
          <p:cNvSpPr txBox="1"/>
          <p:nvPr/>
        </p:nvSpPr>
        <p:spPr>
          <a:xfrm>
            <a:off x="54864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[Course Name]</a:t>
            </a:r>
            <a:endParaRPr lang="en-US" sz="1800" dirty="0"/>
          </a:p>
        </p:txBody>
      </p:sp>
      <p:sp>
        <p:nvSpPr>
          <p:cNvPr id="10" name="Subject label"/>
          <p:cNvSpPr txBox="1"/>
          <p:nvPr/>
        </p:nvSpPr>
        <p:spPr>
          <a:xfrm>
            <a:off x="3977640" y="4343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SUBJECT</a:t>
            </a:r>
            <a:endParaRPr lang="en-US" sz="1200" dirty="0"/>
          </a:p>
        </p:txBody>
      </p:sp>
      <p:sp>
        <p:nvSpPr>
          <p:cNvPr id="11" name="Subject placeholder"/>
          <p:cNvSpPr txBox="1"/>
          <p:nvPr/>
        </p:nvSpPr>
        <p:spPr>
          <a:xfrm>
            <a:off x="397764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[Subject Name]</a:t>
            </a:r>
            <a:endParaRPr lang="en-US" sz="1800" dirty="0"/>
          </a:p>
        </p:txBody>
      </p:sp>
      <p:sp>
        <p:nvSpPr>
          <p:cNvPr id="12" name="Faculty Name label"/>
          <p:cNvSpPr txBox="1"/>
          <p:nvPr/>
        </p:nvSpPr>
        <p:spPr>
          <a:xfrm>
            <a:off x="548640" y="5257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FACULTY NAME</a:t>
            </a:r>
            <a:endParaRPr lang="en-US" sz="1200" dirty="0"/>
          </a:p>
        </p:txBody>
      </p:sp>
      <p:sp>
        <p:nvSpPr>
          <p:cNvPr id="13" name="Faculty Name placeholder"/>
          <p:cNvSpPr txBox="1"/>
          <p:nvPr/>
        </p:nvSpPr>
        <p:spPr>
          <a:xfrm>
            <a:off x="5486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[Faculty Name]</a:t>
            </a:r>
            <a:endParaRPr lang="en-US" sz="1800" dirty="0"/>
          </a:p>
        </p:txBody>
      </p:sp>
      <p:sp>
        <p:nvSpPr>
          <p:cNvPr id="14" name="College Name label"/>
          <p:cNvSpPr txBox="1"/>
          <p:nvPr/>
        </p:nvSpPr>
        <p:spPr>
          <a:xfrm>
            <a:off x="3977640" y="5257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COLLEGE NAME</a:t>
            </a:r>
            <a:endParaRPr lang="en-US" sz="1200" dirty="0"/>
          </a:p>
        </p:txBody>
      </p:sp>
      <p:sp>
        <p:nvSpPr>
          <p:cNvPr id="15" name="College Name placeholder"/>
          <p:cNvSpPr txBox="1"/>
          <p:nvPr/>
        </p:nvSpPr>
        <p:spPr>
          <a:xfrm>
            <a:off x="39776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[College Name]</a:t>
            </a:r>
            <a:endParaRPr lang="en-US" sz="1800" dirty="0"/>
          </a:p>
        </p:txBody>
      </p:sp>
      <p:sp>
        <p:nvSpPr>
          <p:cNvPr id="16" name="Ticket body"/>
          <p:cNvSpPr/>
          <p:nvPr/>
        </p:nvSpPr>
        <p:spPr>
          <a:xfrm>
            <a:off x="7498080" y="914400"/>
            <a:ext cx="4114800" cy="2377440"/>
          </a:xfrm>
          <a:prstGeom prst="roundRect">
            <a:avLst>
              <a:gd name="adj" fmla="val 5769"/>
            </a:avLst>
          </a:prstGeom>
          <a:solidFill>
            <a:schemeClr val="accent2"/>
          </a:solidFill>
          <a:ln/>
        </p:spPr>
      </p:sp>
      <p:sp>
        <p:nvSpPr>
          <p:cNvPr id="17" name="Ticket notch left"/>
          <p:cNvSpPr/>
          <p:nvPr/>
        </p:nvSpPr>
        <p:spPr>
          <a:xfrm>
            <a:off x="7296912" y="1901952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Ticket notch right"/>
          <p:cNvSpPr/>
          <p:nvPr/>
        </p:nvSpPr>
        <p:spPr>
          <a:xfrm>
            <a:off x="11411712" y="1901952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icket perforation"/>
          <p:cNvSpPr/>
          <p:nvPr/>
        </p:nvSpPr>
        <p:spPr>
          <a:xfrm>
            <a:off x="10332720" y="1143000"/>
            <a:ext cx="0" cy="192024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</a:ln>
        </p:spPr>
      </p:sp>
      <p:sp>
        <p:nvSpPr>
          <p:cNvPr id="20" name="Ticket heading"/>
          <p:cNvSpPr txBox="1"/>
          <p:nvPr/>
        </p:nvSpPr>
        <p:spPr>
          <a:xfrm>
            <a:off x="786384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ADMIT ONE</a:t>
            </a:r>
            <a:endParaRPr lang="en-US" sz="2800" dirty="0"/>
          </a:p>
        </p:txBody>
      </p:sp>
      <p:sp>
        <p:nvSpPr>
          <p:cNvPr id="21" name="Ticket subheading"/>
          <p:cNvSpPr txBox="1"/>
          <p:nvPr/>
        </p:nvSpPr>
        <p:spPr>
          <a:xfrm>
            <a:off x="78638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CINEMA TICKET</a:t>
            </a:r>
            <a:endParaRPr lang="en-US" sz="1400" dirty="0"/>
          </a:p>
        </p:txBody>
      </p:sp>
      <p:sp>
        <p:nvSpPr>
          <p:cNvPr id="22" name="Ticket number"/>
          <p:cNvSpPr txBox="1"/>
          <p:nvPr/>
        </p:nvSpPr>
        <p:spPr>
          <a:xfrm>
            <a:off x="786384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Ticket No. 101</a:t>
            </a:r>
            <a:endParaRPr lang="en-US" sz="1800" dirty="0"/>
          </a:p>
        </p:txBody>
      </p:sp>
      <p:sp>
        <p:nvSpPr>
          <p:cNvPr id="23" name="Ticket seat"/>
          <p:cNvSpPr txBox="1"/>
          <p:nvPr/>
        </p:nvSpPr>
        <p:spPr>
          <a:xfrm>
            <a:off x="786384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Seat No. 12</a:t>
            </a:r>
            <a:endParaRPr lang="en-US" sz="1800" dirty="0"/>
          </a:p>
        </p:txBody>
      </p:sp>
      <p:pic>
        <p:nvPicPr>
          <p:cNvPr id="24" name="Image 0" descr="Fil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1737360"/>
            <a:ext cx="731520" cy="731520"/>
          </a:xfrm>
          <a:prstGeom prst="rect">
            <a:avLst/>
          </a:prstGeom>
        </p:spPr>
      </p:pic>
      <p:sp>
        <p:nvSpPr>
          <p:cNvPr id="25" name="Queue circle"/>
          <p:cNvSpPr/>
          <p:nvPr/>
        </p:nvSpPr>
        <p:spPr>
          <a:xfrm>
            <a:off x="7818120" y="4069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1" descr="Que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664" y="4303624"/>
            <a:ext cx="399593" cy="399593"/>
          </a:xfrm>
          <a:prstGeom prst="rect">
            <a:avLst/>
          </a:prstGeom>
        </p:spPr>
      </p:pic>
      <p:sp>
        <p:nvSpPr>
          <p:cNvPr id="27" name="Queue label"/>
          <p:cNvSpPr txBox="1"/>
          <p:nvPr/>
        </p:nvSpPr>
        <p:spPr>
          <a:xfrm>
            <a:off x="7589520" y="5029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Queue</a:t>
            </a:r>
            <a:endParaRPr lang="en-US" sz="1400" dirty="0"/>
          </a:p>
        </p:txBody>
      </p:sp>
      <p:sp>
        <p:nvSpPr>
          <p:cNvPr id="28" name="Stack circle"/>
          <p:cNvSpPr/>
          <p:nvPr/>
        </p:nvSpPr>
        <p:spPr>
          <a:xfrm>
            <a:off x="9189720" y="4069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Image 2" descr="St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264" y="4303624"/>
            <a:ext cx="399593" cy="399593"/>
          </a:xfrm>
          <a:prstGeom prst="rect">
            <a:avLst/>
          </a:prstGeom>
        </p:spPr>
      </p:pic>
      <p:sp>
        <p:nvSpPr>
          <p:cNvPr id="30" name="Stack label"/>
          <p:cNvSpPr txBox="1"/>
          <p:nvPr/>
        </p:nvSpPr>
        <p:spPr>
          <a:xfrm>
            <a:off x="8961120" y="5029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Stack</a:t>
            </a:r>
            <a:endParaRPr lang="en-US" sz="1400" dirty="0"/>
          </a:p>
        </p:txBody>
      </p:sp>
      <p:sp>
        <p:nvSpPr>
          <p:cNvPr id="31" name="C Language circle"/>
          <p:cNvSpPr/>
          <p:nvPr/>
        </p:nvSpPr>
        <p:spPr>
          <a:xfrm>
            <a:off x="10561320" y="4069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2" name="Image 3" descr="C Langu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864" y="4303624"/>
            <a:ext cx="399593" cy="399593"/>
          </a:xfrm>
          <a:prstGeom prst="rect">
            <a:avLst/>
          </a:prstGeom>
        </p:spPr>
      </p:pic>
      <p:sp>
        <p:nvSpPr>
          <p:cNvPr id="33" name="C Language label"/>
          <p:cNvSpPr txBox="1"/>
          <p:nvPr/>
        </p:nvSpPr>
        <p:spPr>
          <a:xfrm>
            <a:off x="10332720" y="5029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 Language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Intro line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Online Movie Ticket Booking System is a menu-driven C program that allows users to:</a:t>
            </a:r>
            <a:endParaRPr lang="en-US" sz="1800" dirty="0"/>
          </a:p>
        </p:txBody>
      </p:sp>
      <p:sp>
        <p:nvSpPr>
          <p:cNvPr id="4" name="Book Tickets card"/>
          <p:cNvSpPr/>
          <p:nvPr/>
        </p:nvSpPr>
        <p:spPr>
          <a:xfrm>
            <a:off x="548640" y="192024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Book Tickets circle"/>
          <p:cNvSpPr/>
          <p:nvPr/>
        </p:nvSpPr>
        <p:spPr>
          <a:xfrm>
            <a:off x="777240" y="21488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Book Tick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2334006"/>
            <a:ext cx="315468" cy="315468"/>
          </a:xfrm>
          <a:prstGeom prst="rect">
            <a:avLst/>
          </a:prstGeom>
        </p:spPr>
      </p:pic>
      <p:sp>
        <p:nvSpPr>
          <p:cNvPr id="7" name="Book Tickets text"/>
          <p:cNvSpPr txBox="1"/>
          <p:nvPr/>
        </p:nvSpPr>
        <p:spPr>
          <a:xfrm>
            <a:off x="164592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Book Tickets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Book one or multiple movie tickets.</a:t>
            </a:r>
            <a:endParaRPr lang="en-US" sz="1500" dirty="0"/>
          </a:p>
        </p:txBody>
      </p:sp>
      <p:sp>
        <p:nvSpPr>
          <p:cNvPr id="8" name="Store Pending Bookings card"/>
          <p:cNvSpPr/>
          <p:nvPr/>
        </p:nvSpPr>
        <p:spPr>
          <a:xfrm>
            <a:off x="4297680" y="192024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Store Pending Bookings circle"/>
          <p:cNvSpPr/>
          <p:nvPr/>
        </p:nvSpPr>
        <p:spPr>
          <a:xfrm>
            <a:off x="4526280" y="21488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Store Pending Book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446" y="2334006"/>
            <a:ext cx="315468" cy="315468"/>
          </a:xfrm>
          <a:prstGeom prst="rect">
            <a:avLst/>
          </a:prstGeom>
        </p:spPr>
      </p:pic>
      <p:sp>
        <p:nvSpPr>
          <p:cNvPr id="11" name="Store Pending Bookings text"/>
          <p:cNvSpPr txBox="1"/>
          <p:nvPr/>
        </p:nvSpPr>
        <p:spPr>
          <a:xfrm>
            <a:off x="539496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Store Pending Bookings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Pending bookings are kept in a Queue.</a:t>
            </a:r>
            <a:endParaRPr lang="en-US" sz="1500" dirty="0"/>
          </a:p>
        </p:txBody>
      </p:sp>
      <p:sp>
        <p:nvSpPr>
          <p:cNvPr id="12" name="Cancel a Ticket card"/>
          <p:cNvSpPr/>
          <p:nvPr/>
        </p:nvSpPr>
        <p:spPr>
          <a:xfrm>
            <a:off x="8046720" y="192024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Cancel a Ticket circle"/>
          <p:cNvSpPr/>
          <p:nvPr/>
        </p:nvSpPr>
        <p:spPr>
          <a:xfrm>
            <a:off x="8275320" y="21488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Cancel a Ti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486" y="2334006"/>
            <a:ext cx="315468" cy="315468"/>
          </a:xfrm>
          <a:prstGeom prst="rect">
            <a:avLst/>
          </a:prstGeom>
        </p:spPr>
      </p:pic>
      <p:sp>
        <p:nvSpPr>
          <p:cNvPr id="15" name="Cancel a Ticket text"/>
          <p:cNvSpPr txBox="1"/>
          <p:nvPr/>
        </p:nvSpPr>
        <p:spPr>
          <a:xfrm>
            <a:off x="914400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Cancel a Ticket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Cancel a ticket using its ticket number.</a:t>
            </a:r>
            <a:endParaRPr lang="en-US" sz="1500" dirty="0"/>
          </a:p>
        </p:txBody>
      </p:sp>
      <p:sp>
        <p:nvSpPr>
          <p:cNvPr id="16" name="Store Cancelled Tickets card"/>
          <p:cNvSpPr/>
          <p:nvPr/>
        </p:nvSpPr>
        <p:spPr>
          <a:xfrm>
            <a:off x="548640" y="361188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7" name="Store Cancelled Tickets circle"/>
          <p:cNvSpPr/>
          <p:nvPr/>
        </p:nvSpPr>
        <p:spPr>
          <a:xfrm>
            <a:off x="777240" y="38404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mage 3" descr="Store Cancelled Ticke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06" y="4025646"/>
            <a:ext cx="315468" cy="315468"/>
          </a:xfrm>
          <a:prstGeom prst="rect">
            <a:avLst/>
          </a:prstGeom>
        </p:spPr>
      </p:pic>
      <p:sp>
        <p:nvSpPr>
          <p:cNvPr id="19" name="Store Cancelled Tickets text"/>
          <p:cNvSpPr txBox="1"/>
          <p:nvPr/>
        </p:nvSpPr>
        <p:spPr>
          <a:xfrm>
            <a:off x="1645920" y="3794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Store Cancelled Tickets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Cancelled tickets are kept in a Stack.</a:t>
            </a:r>
            <a:endParaRPr lang="en-US" sz="1500" dirty="0"/>
          </a:p>
        </p:txBody>
      </p:sp>
      <p:sp>
        <p:nvSpPr>
          <p:cNvPr id="20" name="Show Last Cancellation card"/>
          <p:cNvSpPr/>
          <p:nvPr/>
        </p:nvSpPr>
        <p:spPr>
          <a:xfrm>
            <a:off x="4297680" y="361188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1" name="Show Last Cancellation circle"/>
          <p:cNvSpPr/>
          <p:nvPr/>
        </p:nvSpPr>
        <p:spPr>
          <a:xfrm>
            <a:off x="4526280" y="38404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4" descr="Show Last Cancell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446" y="4025646"/>
            <a:ext cx="315468" cy="315468"/>
          </a:xfrm>
          <a:prstGeom prst="rect">
            <a:avLst/>
          </a:prstGeom>
        </p:spPr>
      </p:pic>
      <p:sp>
        <p:nvSpPr>
          <p:cNvPr id="23" name="Show Last Cancellation text"/>
          <p:cNvSpPr txBox="1"/>
          <p:nvPr/>
        </p:nvSpPr>
        <p:spPr>
          <a:xfrm>
            <a:off x="5394960" y="3794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Show Last Cancellation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Display the most recently cancelled ticket.</a:t>
            </a:r>
            <a:endParaRPr lang="en-US" sz="1500" dirty="0"/>
          </a:p>
        </p:txBody>
      </p:sp>
      <p:sp>
        <p:nvSpPr>
          <p:cNvPr id="24" name="Display Current Bookings card"/>
          <p:cNvSpPr/>
          <p:nvPr/>
        </p:nvSpPr>
        <p:spPr>
          <a:xfrm>
            <a:off x="8046720" y="361188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5" name="Display Current Bookings circle"/>
          <p:cNvSpPr/>
          <p:nvPr/>
        </p:nvSpPr>
        <p:spPr>
          <a:xfrm>
            <a:off x="8275320" y="38404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5" descr="Display Current Booking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0486" y="4025646"/>
            <a:ext cx="315468" cy="315468"/>
          </a:xfrm>
          <a:prstGeom prst="rect">
            <a:avLst/>
          </a:prstGeom>
        </p:spPr>
      </p:pic>
      <p:sp>
        <p:nvSpPr>
          <p:cNvPr id="27" name="Display Current Bookings text"/>
          <p:cNvSpPr txBox="1"/>
          <p:nvPr/>
        </p:nvSpPr>
        <p:spPr>
          <a:xfrm>
            <a:off x="9144000" y="3794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Display Current Bookings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Display all current (pending) bookings.</a:t>
            </a:r>
            <a:endParaRPr lang="en-US" sz="1500" dirty="0"/>
          </a:p>
        </p:txBody>
      </p:sp>
      <p:sp>
        <p:nvSpPr>
          <p:cNvPr id="28" name="Key idea banner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9" name="Key idea text"/>
          <p:cNvSpPr txBox="1"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This project shows the practical use of </a:t>
            </a:r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Queue</a:t>
            </a:r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 and </a:t>
            </a:r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Stack</a:t>
            </a:r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 data structures.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Statement card"/>
          <p:cNvSpPr/>
          <p:nvPr/>
        </p:nvSpPr>
        <p:spPr>
          <a:xfrm>
            <a:off x="548640" y="1417320"/>
            <a:ext cx="521208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/>
        </p:spPr>
      </p:sp>
      <p:sp>
        <p:nvSpPr>
          <p:cNvPr id="4" name="Target circle"/>
          <p:cNvSpPr/>
          <p:nvPr/>
        </p:nvSpPr>
        <p:spPr>
          <a:xfrm>
            <a:off x="914400" y="17830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599" y="2005279"/>
            <a:ext cx="378562" cy="378562"/>
          </a:xfrm>
          <a:prstGeom prst="rect">
            <a:avLst/>
          </a:prstGeom>
        </p:spPr>
      </p:pic>
      <p:sp>
        <p:nvSpPr>
          <p:cNvPr id="6" name="Problem label"/>
          <p:cNvSpPr txBox="1"/>
          <p:nvPr/>
        </p:nvSpPr>
        <p:spPr>
          <a:xfrm>
            <a:off x="91440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7" name="Problem statement"/>
          <p:cNvSpPr txBox="1"/>
          <p:nvPr/>
        </p:nvSpPr>
        <p:spPr>
          <a:xfrm>
            <a:off x="914400" y="324612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Design and implement a simple movie ticket booking system in C that can manage pending bookings and cancelled tickets efficiently using appropriate data structures.</a:t>
            </a:r>
            <a:endParaRPr lang="en-US" sz="2100" dirty="0"/>
          </a:p>
        </p:txBody>
      </p:sp>
      <p:sp>
        <p:nvSpPr>
          <p:cNvPr id="8" name="System should heading"/>
          <p:cNvSpPr txBox="1"/>
          <p:nvPr/>
        </p:nvSpPr>
        <p:spPr>
          <a:xfrm>
            <a:off x="612648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system should:</a:t>
            </a:r>
            <a:endParaRPr lang="en-US" sz="2200" dirty="0"/>
          </a:p>
        </p:txBody>
      </p:sp>
      <p:sp>
        <p:nvSpPr>
          <p:cNvPr id="9" name="Requirement 1"/>
          <p:cNvSpPr/>
          <p:nvPr/>
        </p:nvSpPr>
        <p:spPr>
          <a:xfrm>
            <a:off x="6126480" y="2011680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10" name="Number 1"/>
          <p:cNvSpPr txBox="1"/>
          <p:nvPr/>
        </p:nvSpPr>
        <p:spPr>
          <a:xfrm>
            <a:off x="6263640" y="209397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Requirement text 1"/>
          <p:cNvSpPr txBox="1"/>
          <p:nvPr/>
        </p:nvSpPr>
        <p:spPr>
          <a:xfrm>
            <a:off x="6949440" y="201168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Accept customer and movie details.</a:t>
            </a:r>
            <a:endParaRPr lang="en-US" sz="1700" dirty="0"/>
          </a:p>
        </p:txBody>
      </p:sp>
      <p:sp>
        <p:nvSpPr>
          <p:cNvPr id="12" name="Requirement 2"/>
          <p:cNvSpPr/>
          <p:nvPr/>
        </p:nvSpPr>
        <p:spPr>
          <a:xfrm>
            <a:off x="6126480" y="2715768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13" name="Number 2"/>
          <p:cNvSpPr txBox="1"/>
          <p:nvPr/>
        </p:nvSpPr>
        <p:spPr>
          <a:xfrm>
            <a:off x="6263640" y="279806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Requirement text 2"/>
          <p:cNvSpPr txBox="1"/>
          <p:nvPr/>
        </p:nvSpPr>
        <p:spPr>
          <a:xfrm>
            <a:off x="6949440" y="271576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Store ticket information.</a:t>
            </a:r>
            <a:endParaRPr lang="en-US" sz="1700" dirty="0"/>
          </a:p>
        </p:txBody>
      </p:sp>
      <p:sp>
        <p:nvSpPr>
          <p:cNvPr id="15" name="Requirement 3"/>
          <p:cNvSpPr/>
          <p:nvPr/>
        </p:nvSpPr>
        <p:spPr>
          <a:xfrm>
            <a:off x="6126480" y="3419856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16" name="Number 3"/>
          <p:cNvSpPr txBox="1"/>
          <p:nvPr/>
        </p:nvSpPr>
        <p:spPr>
          <a:xfrm>
            <a:off x="6263640" y="350215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Requirement text 3"/>
          <p:cNvSpPr txBox="1"/>
          <p:nvPr/>
        </p:nvSpPr>
        <p:spPr>
          <a:xfrm>
            <a:off x="6949440" y="341985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Allow ticket cancellation.</a:t>
            </a:r>
            <a:endParaRPr lang="en-US" sz="1700" dirty="0"/>
          </a:p>
        </p:txBody>
      </p:sp>
      <p:sp>
        <p:nvSpPr>
          <p:cNvPr id="18" name="Requirement 4"/>
          <p:cNvSpPr/>
          <p:nvPr/>
        </p:nvSpPr>
        <p:spPr>
          <a:xfrm>
            <a:off x="6126480" y="4123944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 txBox="1"/>
          <p:nvPr/>
        </p:nvSpPr>
        <p:spPr>
          <a:xfrm>
            <a:off x="6263640" y="42062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Requirement text 4"/>
          <p:cNvSpPr txBox="1"/>
          <p:nvPr/>
        </p:nvSpPr>
        <p:spPr>
          <a:xfrm>
            <a:off x="6949440" y="4123944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Maintain cancellation history.</a:t>
            </a:r>
            <a:endParaRPr lang="en-US" sz="1700" dirty="0"/>
          </a:p>
        </p:txBody>
      </p:sp>
      <p:sp>
        <p:nvSpPr>
          <p:cNvPr id="21" name="Requirement 5"/>
          <p:cNvSpPr/>
          <p:nvPr/>
        </p:nvSpPr>
        <p:spPr>
          <a:xfrm>
            <a:off x="6126480" y="4828032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22" name="Number 5"/>
          <p:cNvSpPr txBox="1"/>
          <p:nvPr/>
        </p:nvSpPr>
        <p:spPr>
          <a:xfrm>
            <a:off x="6263640" y="49103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Requirement text 5"/>
          <p:cNvSpPr txBox="1"/>
          <p:nvPr/>
        </p:nvSpPr>
        <p:spPr>
          <a:xfrm>
            <a:off x="6949440" y="482803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Display current bookings.</a:t>
            </a:r>
            <a:endParaRPr lang="en-US" sz="1700" dirty="0"/>
          </a:p>
        </p:txBody>
      </p:sp>
      <p:sp>
        <p:nvSpPr>
          <p:cNvPr id="24" name="Requirement 6"/>
          <p:cNvSpPr/>
          <p:nvPr/>
        </p:nvSpPr>
        <p:spPr>
          <a:xfrm>
            <a:off x="6126480" y="5532120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25" name="Number 6"/>
          <p:cNvSpPr txBox="1"/>
          <p:nvPr/>
        </p:nvSpPr>
        <p:spPr>
          <a:xfrm>
            <a:off x="6263640" y="561441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Requirement text 6"/>
          <p:cNvSpPr txBox="1"/>
          <p:nvPr/>
        </p:nvSpPr>
        <p:spPr>
          <a:xfrm>
            <a:off x="6949440" y="553212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Provide a menu-driven interface.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3" name="Objective 1"/>
          <p:cNvSpPr/>
          <p:nvPr/>
        </p:nvSpPr>
        <p:spPr>
          <a:xfrm>
            <a:off x="548640" y="146304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 txBox="1"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Objective text 1"/>
          <p:cNvSpPr txBox="1"/>
          <p:nvPr/>
        </p:nvSpPr>
        <p:spPr>
          <a:xfrm>
            <a:off x="1554480" y="146304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To implement a real-world movie ticket booking system using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6" name="Objective 2"/>
          <p:cNvSpPr/>
          <p:nvPr/>
        </p:nvSpPr>
        <p:spPr>
          <a:xfrm>
            <a:off x="548640" y="265176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7" name="Number 2"/>
          <p:cNvSpPr txBox="1"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Objective text 2"/>
          <p:cNvSpPr txBox="1"/>
          <p:nvPr/>
        </p:nvSpPr>
        <p:spPr>
          <a:xfrm>
            <a:off x="1554480" y="265176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To understand the use of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structures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Objective 3"/>
          <p:cNvSpPr/>
          <p:nvPr/>
        </p:nvSpPr>
        <p:spPr>
          <a:xfrm>
            <a:off x="548640" y="384048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0" name="Number 3"/>
          <p:cNvSpPr txBox="1"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Objective text 3"/>
          <p:cNvSpPr txBox="1"/>
          <p:nvPr/>
        </p:nvSpPr>
        <p:spPr>
          <a:xfrm>
            <a:off x="1554480" y="38404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To implement a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Queue using an array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for pending bookings.</a:t>
            </a:r>
            <a:endParaRPr lang="en-US" sz="1700" dirty="0"/>
          </a:p>
        </p:txBody>
      </p:sp>
      <p:sp>
        <p:nvSpPr>
          <p:cNvPr id="12" name="Objective 4"/>
          <p:cNvSpPr/>
          <p:nvPr/>
        </p:nvSpPr>
        <p:spPr>
          <a:xfrm>
            <a:off x="548640" y="502920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3" name="Number 4"/>
          <p:cNvSpPr txBox="1"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Objective text 4"/>
          <p:cNvSpPr txBox="1"/>
          <p:nvPr/>
        </p:nvSpPr>
        <p:spPr>
          <a:xfrm>
            <a:off x="1554480" y="50292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To implement a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Stack using an array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for cancelled tickets.</a:t>
            </a:r>
            <a:endParaRPr lang="en-US" sz="1700" dirty="0"/>
          </a:p>
        </p:txBody>
      </p:sp>
      <p:sp>
        <p:nvSpPr>
          <p:cNvPr id="15" name="Objective 5"/>
          <p:cNvSpPr/>
          <p:nvPr/>
        </p:nvSpPr>
        <p:spPr>
          <a:xfrm>
            <a:off x="6172200" y="146304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6" name="Number 5"/>
          <p:cNvSpPr txBox="1"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Objective text 5"/>
          <p:cNvSpPr txBox="1"/>
          <p:nvPr/>
        </p:nvSpPr>
        <p:spPr>
          <a:xfrm>
            <a:off x="7178040" y="146304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To perform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linear searching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for ticket cancellation.</a:t>
            </a:r>
            <a:endParaRPr lang="en-US" sz="1700" dirty="0"/>
          </a:p>
        </p:txBody>
      </p:sp>
      <p:sp>
        <p:nvSpPr>
          <p:cNvPr id="18" name="Objective 6"/>
          <p:cNvSpPr/>
          <p:nvPr/>
        </p:nvSpPr>
        <p:spPr>
          <a:xfrm>
            <a:off x="6172200" y="265176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9" name="Number 6"/>
          <p:cNvSpPr txBox="1"/>
          <p:nvPr/>
        </p:nvSpPr>
        <p:spPr>
          <a:xfrm>
            <a:off x="6400800" y="2880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Objective text 6"/>
          <p:cNvSpPr txBox="1"/>
          <p:nvPr/>
        </p:nvSpPr>
        <p:spPr>
          <a:xfrm>
            <a:off x="7178040" y="265176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To perform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traversal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for searching and displaying bookings.</a:t>
            </a:r>
            <a:endParaRPr lang="en-US" sz="1700" dirty="0"/>
          </a:p>
        </p:txBody>
      </p:sp>
      <p:sp>
        <p:nvSpPr>
          <p:cNvPr id="21" name="Objective 7"/>
          <p:cNvSpPr/>
          <p:nvPr/>
        </p:nvSpPr>
        <p:spPr>
          <a:xfrm>
            <a:off x="6172200" y="384048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2" name="Number 7"/>
          <p:cNvSpPr txBox="1"/>
          <p:nvPr/>
        </p:nvSpPr>
        <p:spPr>
          <a:xfrm>
            <a:off x="640080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23" name="Objective text 7"/>
          <p:cNvSpPr txBox="1"/>
          <p:nvPr/>
        </p:nvSpPr>
        <p:spPr>
          <a:xfrm>
            <a:off x="7178040" y="38404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To understand the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push operation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in Stack.</a:t>
            </a:r>
            <a:endParaRPr lang="en-US" sz="1700" dirty="0"/>
          </a:p>
        </p:txBody>
      </p:sp>
      <p:sp>
        <p:nvSpPr>
          <p:cNvPr id="24" name="Objective 8"/>
          <p:cNvSpPr/>
          <p:nvPr/>
        </p:nvSpPr>
        <p:spPr>
          <a:xfrm>
            <a:off x="6172200" y="502920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5" name="Number 8"/>
          <p:cNvSpPr txBox="1"/>
          <p:nvPr/>
        </p:nvSpPr>
        <p:spPr>
          <a:xfrm>
            <a:off x="6400800" y="5257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US" sz="2000" dirty="0"/>
          </a:p>
        </p:txBody>
      </p:sp>
      <p:sp>
        <p:nvSpPr>
          <p:cNvPr id="26" name="Objective text 8"/>
          <p:cNvSpPr txBox="1"/>
          <p:nvPr/>
        </p:nvSpPr>
        <p:spPr>
          <a:xfrm>
            <a:off x="7178040" y="50292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To analyze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time and space complexity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Structures Used</a:t>
            </a:r>
            <a:endParaRPr lang="en-US" sz="3400" dirty="0"/>
          </a:p>
        </p:txBody>
      </p:sp>
      <p:sp>
        <p:nvSpPr>
          <p:cNvPr id="3" name="Structure card"/>
          <p:cNvSpPr/>
          <p:nvPr/>
        </p:nvSpPr>
        <p:spPr>
          <a:xfrm>
            <a:off x="548640" y="141732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 txBox="1"/>
          <p:nvPr/>
        </p:nvSpPr>
        <p:spPr>
          <a:xfrm>
            <a:off x="731520" y="15819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ructure title"/>
          <p:cNvSpPr txBox="1"/>
          <p:nvPr/>
        </p:nvSpPr>
        <p:spPr>
          <a:xfrm>
            <a:off x="1280160" y="15819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Structure</a:t>
            </a:r>
            <a:endParaRPr lang="en-US" sz="2000" dirty="0"/>
          </a:p>
        </p:txBody>
      </p:sp>
      <p:sp>
        <p:nvSpPr>
          <p:cNvPr id="6" name="Structure code"/>
          <p:cNvSpPr txBox="1"/>
          <p:nvPr/>
        </p:nvSpPr>
        <p:spPr>
          <a:xfrm>
            <a:off x="73152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Ticket</a:t>
            </a:r>
            <a:endParaRPr lang="en-US" sz="1400" dirty="0"/>
          </a:p>
        </p:txBody>
      </p:sp>
      <p:sp>
        <p:nvSpPr>
          <p:cNvPr id="7" name="Structure description"/>
          <p:cNvSpPr txBox="1"/>
          <p:nvPr/>
        </p:nvSpPr>
        <p:spPr>
          <a:xfrm>
            <a:off x="731520" y="25146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Stores one ticket: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ticketNo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customerName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movieName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seatNo</a:t>
            </a:r>
            <a:endParaRPr lang="en-US" sz="1400" dirty="0"/>
          </a:p>
        </p:txBody>
      </p:sp>
      <p:sp>
        <p:nvSpPr>
          <p:cNvPr id="8" name="Queue card"/>
          <p:cNvSpPr/>
          <p:nvPr/>
        </p:nvSpPr>
        <p:spPr>
          <a:xfrm>
            <a:off x="4297680" y="141732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480560" y="15819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Queue title"/>
          <p:cNvSpPr txBox="1"/>
          <p:nvPr/>
        </p:nvSpPr>
        <p:spPr>
          <a:xfrm>
            <a:off x="5029200" y="15819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Queue</a:t>
            </a:r>
            <a:endParaRPr lang="en-US" sz="2000" dirty="0"/>
          </a:p>
        </p:txBody>
      </p:sp>
      <p:sp>
        <p:nvSpPr>
          <p:cNvPr id="11" name="Queue code"/>
          <p:cNvSpPr txBox="1"/>
          <p:nvPr/>
        </p:nvSpPr>
        <p:spPr>
          <a:xfrm>
            <a:off x="448056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Ticket queue[MAX];</a:t>
            </a:r>
            <a:endParaRPr lang="en-US" sz="1400" dirty="0"/>
          </a:p>
        </p:txBody>
      </p:sp>
      <p:sp>
        <p:nvSpPr>
          <p:cNvPr id="12" name="Queue description"/>
          <p:cNvSpPr txBox="1"/>
          <p:nvPr/>
        </p:nvSpPr>
        <p:spPr>
          <a:xfrm>
            <a:off x="4480560" y="25146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Stores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pending movie bookings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Uses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and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tack card"/>
          <p:cNvSpPr/>
          <p:nvPr/>
        </p:nvSpPr>
        <p:spPr>
          <a:xfrm>
            <a:off x="8046720" y="141732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229600" y="15819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tack title"/>
          <p:cNvSpPr txBox="1"/>
          <p:nvPr/>
        </p:nvSpPr>
        <p:spPr>
          <a:xfrm>
            <a:off x="8778240" y="15819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Stack</a:t>
            </a:r>
            <a:endParaRPr lang="en-US" sz="2000" dirty="0"/>
          </a:p>
        </p:txBody>
      </p:sp>
      <p:sp>
        <p:nvSpPr>
          <p:cNvPr id="16" name="Stack code"/>
          <p:cNvSpPr txBox="1"/>
          <p:nvPr/>
        </p:nvSpPr>
        <p:spPr>
          <a:xfrm>
            <a:off x="822960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Ticket stack[MAX];</a:t>
            </a:r>
            <a:endParaRPr lang="en-US" sz="1400" dirty="0"/>
          </a:p>
        </p:txBody>
      </p:sp>
      <p:sp>
        <p:nvSpPr>
          <p:cNvPr id="17" name="Stack description"/>
          <p:cNvSpPr txBox="1"/>
          <p:nvPr/>
        </p:nvSpPr>
        <p:spPr>
          <a:xfrm>
            <a:off x="8229600" y="25146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Stores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cancelled tickets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Uses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8" name="Queue diagram panel"/>
          <p:cNvSpPr/>
          <p:nvPr/>
        </p:nvSpPr>
        <p:spPr>
          <a:xfrm>
            <a:off x="548640" y="3794760"/>
            <a:ext cx="658368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9" name="Queue diagram title"/>
          <p:cNvSpPr txBox="1"/>
          <p:nvPr/>
        </p:nvSpPr>
        <p:spPr>
          <a:xfrm>
            <a:off x="822960" y="3931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Queue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  →  Pending bookings</a:t>
            </a:r>
            <a:endParaRPr lang="en-US" sz="1800" dirty="0"/>
          </a:p>
        </p:txBody>
      </p:sp>
      <p:sp>
        <p:nvSpPr>
          <p:cNvPr id="20" name="Queue box 101"/>
          <p:cNvSpPr txBox="1"/>
          <p:nvPr/>
        </p:nvSpPr>
        <p:spPr>
          <a:xfrm>
            <a:off x="1005840" y="4526280"/>
            <a:ext cx="1188720" cy="7315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101</a:t>
            </a:r>
            <a:endParaRPr lang="en-US" sz="2000" dirty="0"/>
          </a:p>
        </p:txBody>
      </p:sp>
      <p:sp>
        <p:nvSpPr>
          <p:cNvPr id="21" name="Arrow"/>
          <p:cNvSpPr/>
          <p:nvPr/>
        </p:nvSpPr>
        <p:spPr>
          <a:xfrm>
            <a:off x="2212848" y="4892040"/>
            <a:ext cx="21945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Queue box 102"/>
          <p:cNvSpPr txBox="1"/>
          <p:nvPr/>
        </p:nvSpPr>
        <p:spPr>
          <a:xfrm>
            <a:off x="2450592" y="4526280"/>
            <a:ext cx="1188720" cy="7315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102</a:t>
            </a:r>
            <a:endParaRPr lang="en-US" sz="2000" dirty="0"/>
          </a:p>
        </p:txBody>
      </p:sp>
      <p:sp>
        <p:nvSpPr>
          <p:cNvPr id="23" name="Arrow"/>
          <p:cNvSpPr/>
          <p:nvPr/>
        </p:nvSpPr>
        <p:spPr>
          <a:xfrm>
            <a:off x="3657600" y="4892040"/>
            <a:ext cx="21945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Queue box 103"/>
          <p:cNvSpPr txBox="1"/>
          <p:nvPr/>
        </p:nvSpPr>
        <p:spPr>
          <a:xfrm>
            <a:off x="3895344" y="4526280"/>
            <a:ext cx="1188720" cy="7315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103</a:t>
            </a:r>
            <a:endParaRPr lang="en-US" sz="2000" dirty="0"/>
          </a:p>
        </p:txBody>
      </p:sp>
      <p:sp>
        <p:nvSpPr>
          <p:cNvPr id="25" name="Queue empty slot"/>
          <p:cNvSpPr txBox="1"/>
          <p:nvPr/>
        </p:nvSpPr>
        <p:spPr>
          <a:xfrm>
            <a:off x="5340096" y="4526280"/>
            <a:ext cx="1188720" cy="731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  <p:sp>
        <p:nvSpPr>
          <p:cNvPr id="26" name="Arrow"/>
          <p:cNvSpPr/>
          <p:nvPr/>
        </p:nvSpPr>
        <p:spPr>
          <a:xfrm>
            <a:off x="5102352" y="4892040"/>
            <a:ext cx="21945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Arrow"/>
          <p:cNvSpPr/>
          <p:nvPr/>
        </p:nvSpPr>
        <p:spPr>
          <a:xfrm>
            <a:off x="1600200" y="5897880"/>
            <a:ext cx="0" cy="-5943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front label"/>
          <p:cNvSpPr txBox="1"/>
          <p:nvPr/>
        </p:nvSpPr>
        <p:spPr>
          <a:xfrm>
            <a:off x="1005840" y="5916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front</a:t>
            </a:r>
            <a:endParaRPr lang="en-US" sz="1500" dirty="0"/>
          </a:p>
        </p:txBody>
      </p:sp>
      <p:sp>
        <p:nvSpPr>
          <p:cNvPr id="29" name="Arrow"/>
          <p:cNvSpPr/>
          <p:nvPr/>
        </p:nvSpPr>
        <p:spPr>
          <a:xfrm>
            <a:off x="4489704" y="5897880"/>
            <a:ext cx="0" cy="-5943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rear label"/>
          <p:cNvSpPr txBox="1"/>
          <p:nvPr/>
        </p:nvSpPr>
        <p:spPr>
          <a:xfrm>
            <a:off x="3895344" y="5916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rear</a:t>
            </a:r>
            <a:endParaRPr lang="en-US" sz="1500" dirty="0"/>
          </a:p>
        </p:txBody>
      </p:sp>
      <p:sp>
        <p:nvSpPr>
          <p:cNvPr id="31" name="Stack diagram panel"/>
          <p:cNvSpPr/>
          <p:nvPr/>
        </p:nvSpPr>
        <p:spPr>
          <a:xfrm>
            <a:off x="7315200" y="3794760"/>
            <a:ext cx="429768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32" name="Stack diagram title"/>
          <p:cNvSpPr txBox="1"/>
          <p:nvPr/>
        </p:nvSpPr>
        <p:spPr>
          <a:xfrm>
            <a:off x="758952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Stack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  →  Cancelled history</a:t>
            </a:r>
            <a:endParaRPr lang="en-US" sz="1800" dirty="0"/>
          </a:p>
        </p:txBody>
      </p:sp>
      <p:sp>
        <p:nvSpPr>
          <p:cNvPr id="33" name="Stack box 103"/>
          <p:cNvSpPr txBox="1"/>
          <p:nvPr/>
        </p:nvSpPr>
        <p:spPr>
          <a:xfrm>
            <a:off x="8778240" y="4434840"/>
            <a:ext cx="164592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103</a:t>
            </a:r>
            <a:endParaRPr lang="en-US" sz="1800" dirty="0"/>
          </a:p>
        </p:txBody>
      </p:sp>
      <p:sp>
        <p:nvSpPr>
          <p:cNvPr id="34" name="Stack box 102"/>
          <p:cNvSpPr txBox="1"/>
          <p:nvPr/>
        </p:nvSpPr>
        <p:spPr>
          <a:xfrm>
            <a:off x="8778240" y="4937760"/>
            <a:ext cx="164592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102</a:t>
            </a:r>
            <a:endParaRPr lang="en-US" sz="1800" dirty="0"/>
          </a:p>
        </p:txBody>
      </p:sp>
      <p:sp>
        <p:nvSpPr>
          <p:cNvPr id="35" name="Stack box 101"/>
          <p:cNvSpPr txBox="1"/>
          <p:nvPr/>
        </p:nvSpPr>
        <p:spPr>
          <a:xfrm>
            <a:off x="8778240" y="5440680"/>
            <a:ext cx="164592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101</a:t>
            </a:r>
            <a:endParaRPr lang="en-US" sz="1800" dirty="0"/>
          </a:p>
        </p:txBody>
      </p:sp>
      <p:sp>
        <p:nvSpPr>
          <p:cNvPr id="36" name="top label"/>
          <p:cNvSpPr txBox="1"/>
          <p:nvPr/>
        </p:nvSpPr>
        <p:spPr>
          <a:xfrm>
            <a:off x="777240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top</a:t>
            </a:r>
            <a:endParaRPr lang="en-US" sz="1500" dirty="0"/>
          </a:p>
        </p:txBody>
      </p:sp>
      <p:sp>
        <p:nvSpPr>
          <p:cNvPr id="37" name="Arrow"/>
          <p:cNvSpPr/>
          <p:nvPr/>
        </p:nvSpPr>
        <p:spPr>
          <a:xfrm>
            <a:off x="8366760" y="4663440"/>
            <a:ext cx="36576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8" name="LIFO note"/>
          <p:cNvSpPr txBox="1"/>
          <p:nvPr/>
        </p:nvSpPr>
        <p:spPr>
          <a:xfrm>
            <a:off x="10515600" y="4937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Last in,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first out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Overall Working (Flowchart)</a:t>
            </a:r>
            <a:endParaRPr lang="en-US" sz="3400" dirty="0"/>
          </a:p>
        </p:txBody>
      </p:sp>
      <p:sp>
        <p:nvSpPr>
          <p:cNvPr id="3" name="Start"/>
          <p:cNvSpPr txBox="1"/>
          <p:nvPr/>
        </p:nvSpPr>
        <p:spPr>
          <a:xfrm>
            <a:off x="548640" y="1417320"/>
            <a:ext cx="201168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START</a:t>
            </a:r>
            <a:endParaRPr lang="en-US" sz="1400" dirty="0"/>
          </a:p>
        </p:txBody>
      </p:sp>
      <p:sp>
        <p:nvSpPr>
          <p:cNvPr id="4" name="Arrow"/>
          <p:cNvSpPr/>
          <p:nvPr/>
        </p:nvSpPr>
        <p:spPr>
          <a:xfrm>
            <a:off x="1554480" y="192024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Display menu"/>
          <p:cNvSpPr txBox="1"/>
          <p:nvPr/>
        </p:nvSpPr>
        <p:spPr>
          <a:xfrm>
            <a:off x="548640" y="2240280"/>
            <a:ext cx="201168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Display Menu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554480" y="27432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Choose option"/>
          <p:cNvSpPr txBox="1"/>
          <p:nvPr/>
        </p:nvSpPr>
        <p:spPr>
          <a:xfrm>
            <a:off x="548640" y="2971800"/>
            <a:ext cx="2011680" cy="1005840"/>
          </a:xfrm>
          <a:prstGeom prst="diamond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Choose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option 1-5</a:t>
            </a:r>
            <a:endParaRPr lang="en-US" sz="1200" dirty="0"/>
          </a:p>
        </p:txBody>
      </p:sp>
      <p:sp>
        <p:nvSpPr>
          <p:cNvPr id="8" name="Loop note card"/>
          <p:cNvSpPr/>
          <p:nvPr/>
        </p:nvSpPr>
        <p:spPr>
          <a:xfrm>
            <a:off x="548640" y="4572000"/>
            <a:ext cx="20116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Loop note"/>
          <p:cNvSpPr txBox="1"/>
          <p:nvPr/>
        </p:nvSpPr>
        <p:spPr>
          <a:xfrm>
            <a:off x="685800" y="457200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menu repeats in a loop until the user chooses 5 (Exit).</a:t>
            </a:r>
            <a:endParaRPr lang="en-US" sz="1400" dirty="0"/>
          </a:p>
        </p:txBody>
      </p:sp>
      <p:sp>
        <p:nvSpPr>
          <p:cNvPr id="10" name="Connector"/>
          <p:cNvSpPr/>
          <p:nvPr/>
        </p:nvSpPr>
        <p:spPr>
          <a:xfrm>
            <a:off x="2560320" y="347472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1" name="Connector"/>
          <p:cNvSpPr/>
          <p:nvPr/>
        </p:nvSpPr>
        <p:spPr>
          <a:xfrm>
            <a:off x="2880360" y="1737360"/>
            <a:ext cx="0" cy="34747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2" name="Arrow"/>
          <p:cNvSpPr/>
          <p:nvPr/>
        </p:nvSpPr>
        <p:spPr>
          <a:xfrm>
            <a:off x="2880360" y="173736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Option 1"/>
          <p:cNvSpPr txBox="1"/>
          <p:nvPr/>
        </p:nvSpPr>
        <p:spPr>
          <a:xfrm>
            <a:off x="3200400" y="141732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 Book Ticket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2880360" y="260604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Option 2"/>
          <p:cNvSpPr txBox="1"/>
          <p:nvPr/>
        </p:nvSpPr>
        <p:spPr>
          <a:xfrm>
            <a:off x="3200400" y="228600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 Cancel Ticket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2880360" y="347472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Option 3"/>
          <p:cNvSpPr txBox="1"/>
          <p:nvPr/>
        </p:nvSpPr>
        <p:spPr>
          <a:xfrm>
            <a:off x="3200400" y="315468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 Show Last Cancellation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2880360" y="434340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Option 4"/>
          <p:cNvSpPr txBox="1"/>
          <p:nvPr/>
        </p:nvSpPr>
        <p:spPr>
          <a:xfrm>
            <a:off x="3200400" y="402336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 Display Current Bookings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2880360" y="521208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Option 5"/>
          <p:cNvSpPr txBox="1"/>
          <p:nvPr/>
        </p:nvSpPr>
        <p:spPr>
          <a:xfrm>
            <a:off x="3200400" y="489204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  Exit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5212080" y="173736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>
            <a:off x="5212080" y="260604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>
            <a:off x="5212080" y="347472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>
            <a:off x="5212080" y="434340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Arrow"/>
          <p:cNvSpPr/>
          <p:nvPr/>
        </p:nvSpPr>
        <p:spPr>
          <a:xfrm>
            <a:off x="5212080" y="521208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Input details"/>
          <p:cNvSpPr txBox="1"/>
          <p:nvPr/>
        </p:nvSpPr>
        <p:spPr>
          <a:xfrm>
            <a:off x="5440680" y="1417320"/>
            <a:ext cx="292608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Input customer, movie and ticket details</a:t>
            </a:r>
            <a:endParaRPr lang="en-US" sz="1200" dirty="0"/>
          </a:p>
        </p:txBody>
      </p:sp>
      <p:sp>
        <p:nvSpPr>
          <p:cNvPr id="28" name="Arrow"/>
          <p:cNvSpPr/>
          <p:nvPr/>
        </p:nvSpPr>
        <p:spPr>
          <a:xfrm>
            <a:off x="8366760" y="173736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Store in queue"/>
          <p:cNvSpPr txBox="1"/>
          <p:nvPr/>
        </p:nvSpPr>
        <p:spPr>
          <a:xfrm>
            <a:off x="8641080" y="1417320"/>
            <a:ext cx="2286000" cy="640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Store in Queue</a:t>
            </a:r>
            <a:endParaRPr lang="en-US" sz="1200" dirty="0"/>
          </a:p>
        </p:txBody>
      </p:sp>
      <p:sp>
        <p:nvSpPr>
          <p:cNvPr id="30" name="Enter ticket number"/>
          <p:cNvSpPr txBox="1"/>
          <p:nvPr/>
        </p:nvSpPr>
        <p:spPr>
          <a:xfrm>
            <a:off x="5440680" y="2286000"/>
            <a:ext cx="100584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Enter ticket number</a:t>
            </a:r>
            <a:endParaRPr lang="en-US" sz="1200" dirty="0"/>
          </a:p>
        </p:txBody>
      </p:sp>
      <p:sp>
        <p:nvSpPr>
          <p:cNvPr id="31" name="Arrow"/>
          <p:cNvSpPr/>
          <p:nvPr/>
        </p:nvSpPr>
        <p:spPr>
          <a:xfrm>
            <a:off x="6446520" y="260604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Linear search"/>
          <p:cNvSpPr txBox="1"/>
          <p:nvPr/>
        </p:nvSpPr>
        <p:spPr>
          <a:xfrm>
            <a:off x="6611112" y="2286000"/>
            <a:ext cx="1005840" cy="6400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Linear Search</a:t>
            </a:r>
            <a:endParaRPr lang="en-US" sz="1200" dirty="0"/>
          </a:p>
        </p:txBody>
      </p:sp>
      <p:sp>
        <p:nvSpPr>
          <p:cNvPr id="33" name="Arrow"/>
          <p:cNvSpPr/>
          <p:nvPr/>
        </p:nvSpPr>
        <p:spPr>
          <a:xfrm>
            <a:off x="7616952" y="260604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Ticket found decision"/>
          <p:cNvSpPr txBox="1"/>
          <p:nvPr/>
        </p:nvSpPr>
        <p:spPr>
          <a:xfrm>
            <a:off x="7781544" y="2240280"/>
            <a:ext cx="1371600" cy="731520"/>
          </a:xfrm>
          <a:prstGeom prst="diamond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Ticket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found?</a:t>
            </a:r>
            <a:endParaRPr lang="en-US" sz="1100" dirty="0"/>
          </a:p>
        </p:txBody>
      </p:sp>
      <p:sp>
        <p:nvSpPr>
          <p:cNvPr id="35" name="Arrow"/>
          <p:cNvSpPr/>
          <p:nvPr/>
        </p:nvSpPr>
        <p:spPr>
          <a:xfrm>
            <a:off x="9153144" y="260604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6" name="Push into stack"/>
          <p:cNvSpPr txBox="1"/>
          <p:nvPr/>
        </p:nvSpPr>
        <p:spPr>
          <a:xfrm>
            <a:off x="9317736" y="2286000"/>
            <a:ext cx="1051560" cy="640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Yes: Push into Stack</a:t>
            </a:r>
            <a:endParaRPr lang="en-US" sz="1200" dirty="0"/>
          </a:p>
        </p:txBody>
      </p:sp>
      <p:sp>
        <p:nvSpPr>
          <p:cNvPr id="37" name="Arrow"/>
          <p:cNvSpPr/>
          <p:nvPr/>
        </p:nvSpPr>
        <p:spPr>
          <a:xfrm>
            <a:off x="10369296" y="260604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8" name="Shift queue elements"/>
          <p:cNvSpPr txBox="1"/>
          <p:nvPr/>
        </p:nvSpPr>
        <p:spPr>
          <a:xfrm>
            <a:off x="10533888" y="2286000"/>
            <a:ext cx="109728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Shift queue elements</a:t>
            </a:r>
            <a:endParaRPr lang="en-US" sz="1200" dirty="0"/>
          </a:p>
        </p:txBody>
      </p:sp>
      <p:sp>
        <p:nvSpPr>
          <p:cNvPr id="39" name="No branch note"/>
          <p:cNvSpPr txBox="1"/>
          <p:nvPr/>
        </p:nvSpPr>
        <p:spPr>
          <a:xfrm>
            <a:off x="7598664" y="29809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No: not-found message</a:t>
            </a:r>
            <a:endParaRPr lang="en-US" sz="1000" dirty="0"/>
          </a:p>
        </p:txBody>
      </p:sp>
      <p:sp>
        <p:nvSpPr>
          <p:cNvPr id="40" name="Display stack top"/>
          <p:cNvSpPr txBox="1"/>
          <p:nvPr/>
        </p:nvSpPr>
        <p:spPr>
          <a:xfrm>
            <a:off x="5440680" y="3154680"/>
            <a:ext cx="292608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Display stack[top]</a:t>
            </a:r>
            <a:endParaRPr lang="en-US" sz="1200" dirty="0"/>
          </a:p>
        </p:txBody>
      </p:sp>
      <p:sp>
        <p:nvSpPr>
          <p:cNvPr id="41" name="Traverse queue"/>
          <p:cNvSpPr txBox="1"/>
          <p:nvPr/>
        </p:nvSpPr>
        <p:spPr>
          <a:xfrm>
            <a:off x="5440680" y="4023360"/>
            <a:ext cx="292608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Traverse from front to rear</a:t>
            </a:r>
            <a:endParaRPr lang="en-US" sz="1200" dirty="0"/>
          </a:p>
        </p:txBody>
      </p:sp>
      <p:sp>
        <p:nvSpPr>
          <p:cNvPr id="42" name="Arrow"/>
          <p:cNvSpPr/>
          <p:nvPr/>
        </p:nvSpPr>
        <p:spPr>
          <a:xfrm>
            <a:off x="8366760" y="434340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3" name="Print pending tickets"/>
          <p:cNvSpPr txBox="1"/>
          <p:nvPr/>
        </p:nvSpPr>
        <p:spPr>
          <a:xfrm>
            <a:off x="8641080" y="4023360"/>
            <a:ext cx="228600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Print every pending ticket</a:t>
            </a:r>
            <a:endParaRPr lang="en-US" sz="1200" dirty="0"/>
          </a:p>
        </p:txBody>
      </p:sp>
      <p:sp>
        <p:nvSpPr>
          <p:cNvPr id="44" name="Thank you message"/>
          <p:cNvSpPr txBox="1"/>
          <p:nvPr/>
        </p:nvSpPr>
        <p:spPr>
          <a:xfrm>
            <a:off x="5440680" y="4892040"/>
            <a:ext cx="292608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Print thank-you message</a:t>
            </a:r>
            <a:endParaRPr lang="en-US" sz="1200" dirty="0"/>
          </a:p>
        </p:txBody>
      </p:sp>
      <p:sp>
        <p:nvSpPr>
          <p:cNvPr id="45" name="Arrow"/>
          <p:cNvSpPr/>
          <p:nvPr/>
        </p:nvSpPr>
        <p:spPr>
          <a:xfrm>
            <a:off x="8366760" y="521208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6" name="End"/>
          <p:cNvSpPr txBox="1"/>
          <p:nvPr/>
        </p:nvSpPr>
        <p:spPr>
          <a:xfrm>
            <a:off x="8641080" y="4937760"/>
            <a:ext cx="128016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Algorithm</a:t>
            </a:r>
            <a:endParaRPr lang="en-US" sz="3400" dirty="0"/>
          </a:p>
        </p:txBody>
      </p:sp>
      <p:sp>
        <p:nvSpPr>
          <p:cNvPr id="3" name="Algorithm name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Algorithm: Online Movie Ticket Booking System</a:t>
            </a:r>
            <a:endParaRPr lang="en-US" sz="1800" dirty="0"/>
          </a:p>
        </p:txBody>
      </p:sp>
      <p:sp>
        <p:nvSpPr>
          <p:cNvPr id="4" name="Algorithm left card"/>
          <p:cNvSpPr/>
          <p:nvPr/>
        </p:nvSpPr>
        <p:spPr>
          <a:xfrm>
            <a:off x="548640" y="164592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5" name="Algorithm right card"/>
          <p:cNvSpPr/>
          <p:nvPr/>
        </p:nvSpPr>
        <p:spPr>
          <a:xfrm>
            <a:off x="6172200" y="164592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777240" y="18470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Algorithm step 1"/>
          <p:cNvSpPr txBox="1"/>
          <p:nvPr/>
        </p:nvSpPr>
        <p:spPr>
          <a:xfrm>
            <a:off x="1325880" y="18288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Start the program.</a:t>
            </a:r>
            <a:endParaRPr lang="en-US" sz="1500" dirty="0"/>
          </a:p>
        </p:txBody>
      </p:sp>
      <p:sp>
        <p:nvSpPr>
          <p:cNvPr id="8" name="Number 2"/>
          <p:cNvSpPr txBox="1"/>
          <p:nvPr/>
        </p:nvSpPr>
        <p:spPr>
          <a:xfrm>
            <a:off x="777240" y="22860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Algorithm step 2"/>
          <p:cNvSpPr txBox="1"/>
          <p:nvPr/>
        </p:nvSpPr>
        <p:spPr>
          <a:xfrm>
            <a:off x="1325880" y="22677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Initialize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= -1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 = -1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and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-1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0" name="Number 3"/>
          <p:cNvSpPr txBox="1"/>
          <p:nvPr/>
        </p:nvSpPr>
        <p:spPr>
          <a:xfrm>
            <a:off x="777240" y="27249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Algorithm step 3"/>
          <p:cNvSpPr txBox="1"/>
          <p:nvPr/>
        </p:nvSpPr>
        <p:spPr>
          <a:xfrm>
            <a:off x="1325880" y="270662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Display the main menu.</a:t>
            </a:r>
            <a:endParaRPr lang="en-US" sz="1500" dirty="0"/>
          </a:p>
        </p:txBody>
      </p:sp>
      <p:sp>
        <p:nvSpPr>
          <p:cNvPr id="12" name="Number 4"/>
          <p:cNvSpPr txBox="1"/>
          <p:nvPr/>
        </p:nvSpPr>
        <p:spPr>
          <a:xfrm>
            <a:off x="777240" y="31638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Algorithm step 4"/>
          <p:cNvSpPr txBox="1"/>
          <p:nvPr/>
        </p:nvSpPr>
        <p:spPr>
          <a:xfrm>
            <a:off x="1325880" y="314553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Ask the user to select an operation.</a:t>
            </a:r>
            <a:endParaRPr lang="en-US" sz="1500" dirty="0"/>
          </a:p>
        </p:txBody>
      </p:sp>
      <p:sp>
        <p:nvSpPr>
          <p:cNvPr id="14" name="Number 5"/>
          <p:cNvSpPr txBox="1"/>
          <p:nvPr/>
        </p:nvSpPr>
        <p:spPr>
          <a:xfrm>
            <a:off x="777240" y="360273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5" name="Algorithm step 5"/>
          <p:cNvSpPr txBox="1"/>
          <p:nvPr/>
        </p:nvSpPr>
        <p:spPr>
          <a:xfrm>
            <a:off x="1325880" y="3584448"/>
            <a:ext cx="4526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the user selects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Book Ticket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input customer name, movie name, number of tickets, ticket number and seat number, then store the tickets in the queue.</a:t>
            </a:r>
            <a:endParaRPr lang="en-US" sz="1500" dirty="0"/>
          </a:p>
        </p:txBody>
      </p:sp>
      <p:sp>
        <p:nvSpPr>
          <p:cNvPr id="16" name="Number 6"/>
          <p:cNvSpPr txBox="1"/>
          <p:nvPr/>
        </p:nvSpPr>
        <p:spPr>
          <a:xfrm>
            <a:off x="777240" y="451713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7" name="Algorithm step 6"/>
          <p:cNvSpPr txBox="1"/>
          <p:nvPr/>
        </p:nvSpPr>
        <p:spPr>
          <a:xfrm>
            <a:off x="1325880" y="44988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the user selects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Cancel Ticket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search for the ticket number in the queue.</a:t>
            </a:r>
            <a:endParaRPr lang="en-US" sz="1500" dirty="0"/>
          </a:p>
        </p:txBody>
      </p:sp>
      <p:sp>
        <p:nvSpPr>
          <p:cNvPr id="18" name="Number 7"/>
          <p:cNvSpPr txBox="1"/>
          <p:nvPr/>
        </p:nvSpPr>
        <p:spPr>
          <a:xfrm>
            <a:off x="777240" y="51937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19" name="Algorithm step 7"/>
          <p:cNvSpPr txBox="1"/>
          <p:nvPr/>
        </p:nvSpPr>
        <p:spPr>
          <a:xfrm>
            <a:off x="1325880" y="51755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the ticket is found, push the cancelled ticket into the stack.</a:t>
            </a:r>
            <a:endParaRPr lang="en-US" sz="1500" dirty="0"/>
          </a:p>
        </p:txBody>
      </p:sp>
      <p:sp>
        <p:nvSpPr>
          <p:cNvPr id="20" name="Number 8"/>
          <p:cNvSpPr txBox="1"/>
          <p:nvPr/>
        </p:nvSpPr>
        <p:spPr>
          <a:xfrm>
            <a:off x="6400800" y="18470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1" name="Algorithm step 8"/>
          <p:cNvSpPr txBox="1"/>
          <p:nvPr/>
        </p:nvSpPr>
        <p:spPr>
          <a:xfrm>
            <a:off x="6949440" y="18288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Shift the remaining queue elements to remove the cancelled ticket.</a:t>
            </a:r>
            <a:endParaRPr lang="en-US" sz="1500" dirty="0"/>
          </a:p>
        </p:txBody>
      </p:sp>
      <p:sp>
        <p:nvSpPr>
          <p:cNvPr id="22" name="Number 9"/>
          <p:cNvSpPr txBox="1"/>
          <p:nvPr/>
        </p:nvSpPr>
        <p:spPr>
          <a:xfrm>
            <a:off x="6400800" y="2523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23" name="Algorithm step 9"/>
          <p:cNvSpPr txBox="1"/>
          <p:nvPr/>
        </p:nvSpPr>
        <p:spPr>
          <a:xfrm>
            <a:off x="6949440" y="250545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the user selects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Show Last Cancellation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display the ticket at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stack[top]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4" name="Number 10"/>
          <p:cNvSpPr txBox="1"/>
          <p:nvPr/>
        </p:nvSpPr>
        <p:spPr>
          <a:xfrm>
            <a:off x="6400800" y="32004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Algorithm step 10"/>
          <p:cNvSpPr txBox="1"/>
          <p:nvPr/>
        </p:nvSpPr>
        <p:spPr>
          <a:xfrm>
            <a:off x="6949440" y="31821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the user selects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Display Current Bookings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traverse the queue from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to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display all tickets.</a:t>
            </a:r>
            <a:endParaRPr lang="en-US" sz="1500" dirty="0"/>
          </a:p>
        </p:txBody>
      </p:sp>
      <p:sp>
        <p:nvSpPr>
          <p:cNvPr id="26" name="Number 11"/>
          <p:cNvSpPr txBox="1"/>
          <p:nvPr/>
        </p:nvSpPr>
        <p:spPr>
          <a:xfrm>
            <a:off x="6400800" y="38770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11</a:t>
            </a:r>
            <a:endParaRPr lang="en-US" sz="1400" dirty="0"/>
          </a:p>
        </p:txBody>
      </p:sp>
      <p:sp>
        <p:nvSpPr>
          <p:cNvPr id="27" name="Algorithm step 11"/>
          <p:cNvSpPr txBox="1"/>
          <p:nvPr/>
        </p:nvSpPr>
        <p:spPr>
          <a:xfrm>
            <a:off x="6949440" y="38587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the user selects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Exit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terminate the program.</a:t>
            </a:r>
            <a:endParaRPr lang="en-US" sz="1500" dirty="0"/>
          </a:p>
        </p:txBody>
      </p:sp>
      <p:sp>
        <p:nvSpPr>
          <p:cNvPr id="28" name="Number 12"/>
          <p:cNvSpPr txBox="1"/>
          <p:nvPr/>
        </p:nvSpPr>
        <p:spPr>
          <a:xfrm>
            <a:off x="6400800" y="43159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</a:t>
            </a:r>
            <a:endParaRPr lang="en-US" sz="1400" dirty="0"/>
          </a:p>
        </p:txBody>
      </p:sp>
      <p:sp>
        <p:nvSpPr>
          <p:cNvPr id="29" name="Algorithm step 12"/>
          <p:cNvSpPr txBox="1"/>
          <p:nvPr/>
        </p:nvSpPr>
        <p:spPr>
          <a:xfrm>
            <a:off x="6949440" y="429768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Repeat the menu until the user chooses Exit.</a:t>
            </a:r>
            <a:endParaRPr lang="en-US" sz="1500" dirty="0"/>
          </a:p>
        </p:txBody>
      </p:sp>
      <p:sp>
        <p:nvSpPr>
          <p:cNvPr id="30" name="Number 13"/>
          <p:cNvSpPr txBox="1"/>
          <p:nvPr/>
        </p:nvSpPr>
        <p:spPr>
          <a:xfrm>
            <a:off x="6400800" y="4754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13</a:t>
            </a:r>
            <a:endParaRPr lang="en-US" sz="1400" dirty="0"/>
          </a:p>
        </p:txBody>
      </p:sp>
      <p:sp>
        <p:nvSpPr>
          <p:cNvPr id="31" name="Algorithm step 13"/>
          <p:cNvSpPr txBox="1"/>
          <p:nvPr/>
        </p:nvSpPr>
        <p:spPr>
          <a:xfrm>
            <a:off x="6949440" y="473659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 Code – Part 1</a:t>
            </a:r>
            <a:endParaRPr lang="en-US" sz="2600" dirty="0"/>
          </a:p>
        </p:txBody>
      </p:sp>
      <p:sp>
        <p:nvSpPr>
          <p:cNvPr id="3" name="Line range"/>
          <p:cNvSpPr txBox="1"/>
          <p:nvPr/>
        </p:nvSpPr>
        <p:spPr>
          <a:xfrm>
            <a:off x="813816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Lines 1–71 of 220</a:t>
            </a:r>
            <a:endParaRPr lang="en-US" sz="1400" dirty="0"/>
          </a:p>
        </p:txBody>
      </p:sp>
      <p:sp>
        <p:nvSpPr>
          <p:cNvPr id="4" name="Code panel 1"/>
          <p:cNvSpPr/>
          <p:nvPr/>
        </p:nvSpPr>
        <p:spPr>
          <a:xfrm>
            <a:off x="365760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</p:sp>
      <p:sp>
        <p:nvSpPr>
          <p:cNvPr id="5" name="Line numbers 1"/>
          <p:cNvSpPr txBox="1"/>
          <p:nvPr/>
        </p:nvSpPr>
        <p:spPr>
          <a:xfrm>
            <a:off x="457200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Source code column 1"/>
          <p:cNvSpPr txBox="1"/>
          <p:nvPr/>
        </p:nvSpPr>
        <p:spPr>
          <a:xfrm>
            <a:off x="932688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&lt;stdio.h&gt;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&lt;string.h&gt;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ticketNo;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customerName[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movieName[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seatNo;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 queue[MAX];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front = -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rear = -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 stack[MAX];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 = -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bookTicket()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customerName[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movieName[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"\nEnter Customer Name: 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%[^\n]"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customerName);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Movie Name: 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%[^\n]"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movieName);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"How many tickets do you want to book? 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&amp;n);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</p:txBody>
      </p:sp>
      <p:sp>
        <p:nvSpPr>
          <p:cNvPr id="7" name="Code panel 2"/>
          <p:cNvSpPr/>
          <p:nvPr/>
        </p:nvSpPr>
        <p:spPr>
          <a:xfrm>
            <a:off x="6153912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</p:sp>
      <p:sp>
        <p:nvSpPr>
          <p:cNvPr id="8" name="Line numbers 2"/>
          <p:cNvSpPr txBox="1"/>
          <p:nvPr/>
        </p:nvSpPr>
        <p:spPr>
          <a:xfrm>
            <a:off x="6245352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900" dirty="0"/>
          </a:p>
        </p:txBody>
      </p:sp>
      <p:sp>
        <p:nvSpPr>
          <p:cNvPr id="9" name="Source code column 2"/>
          <p:cNvSpPr txBox="1"/>
          <p:nvPr/>
        </p:nvSpPr>
        <p:spPr>
          <a:xfrm>
            <a:off x="6720840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&lt;=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 number of tickets.\n"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(rear + n &gt;= MAX)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 enough space for these tickets.\n"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n; i++)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(front == -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front =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rear++;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strcpy(queue[rear].customerName, customerName);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strcpy(queue[rear].movieName, movieName);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"\nTicket %d\n"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 +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Ticket Number: 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&amp;queue[rear].ticketNo);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Seat Number: 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&amp;queue[rear].seatNo);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"\n%d ticket(s) booked successfully!\n"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56248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 Code – Part 2</a:t>
            </a:r>
            <a:endParaRPr lang="en-US" sz="2600" dirty="0"/>
          </a:p>
        </p:txBody>
      </p:sp>
      <p:sp>
        <p:nvSpPr>
          <p:cNvPr id="3" name="Line range"/>
          <p:cNvSpPr txBox="1"/>
          <p:nvPr/>
        </p:nvSpPr>
        <p:spPr>
          <a:xfrm>
            <a:off x="813816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Lines 73–141 of 220</a:t>
            </a:r>
            <a:endParaRPr lang="en-US" sz="1400" dirty="0"/>
          </a:p>
        </p:txBody>
      </p:sp>
      <p:sp>
        <p:nvSpPr>
          <p:cNvPr id="4" name="Code panel 1"/>
          <p:cNvSpPr/>
          <p:nvPr/>
        </p:nvSpPr>
        <p:spPr>
          <a:xfrm>
            <a:off x="365760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</p:sp>
      <p:sp>
        <p:nvSpPr>
          <p:cNvPr id="5" name="Line numbers 1"/>
          <p:cNvSpPr txBox="1"/>
          <p:nvPr/>
        </p:nvSpPr>
        <p:spPr>
          <a:xfrm>
            <a:off x="457200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</a:t>
            </a:r>
            <a:endParaRPr lang="en-US" sz="900" dirty="0"/>
          </a:p>
        </p:txBody>
      </p:sp>
      <p:sp>
        <p:nvSpPr>
          <p:cNvPr id="6" name="Source code column 1"/>
          <p:cNvSpPr txBox="1"/>
          <p:nvPr/>
        </p:nvSpPr>
        <p:spPr>
          <a:xfrm>
            <a:off x="932688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cancelTicket()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ticketNo;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i, j;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found =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(front == -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front &gt; rear)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"\nNo pending bookings.\n"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"\nEnter Ticket Number to Cancel: 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&amp;ticketNo);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 front; i &lt;= rear; i++)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(queue[i].ticketNo == ticketNo)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found =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(top &lt; MAX -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top++;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stack[top] = queue[i];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(j = i; j &lt; rear; j++)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queue[j] = queue[j +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rear--;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(rear &lt; front)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</a:t>
            </a:r>
            <a:endParaRPr lang="en-US" sz="1000" dirty="0"/>
          </a:p>
        </p:txBody>
      </p:sp>
      <p:sp>
        <p:nvSpPr>
          <p:cNvPr id="7" name="Code panel 2"/>
          <p:cNvSpPr/>
          <p:nvPr/>
        </p:nvSpPr>
        <p:spPr>
          <a:xfrm>
            <a:off x="6153912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</p:sp>
      <p:sp>
        <p:nvSpPr>
          <p:cNvPr id="8" name="Line numbers 2"/>
          <p:cNvSpPr txBox="1"/>
          <p:nvPr/>
        </p:nvSpPr>
        <p:spPr>
          <a:xfrm>
            <a:off x="6245352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</a:t>
            </a:r>
            <a:endParaRPr lang="en-US" sz="900" dirty="0"/>
          </a:p>
        </p:txBody>
      </p:sp>
      <p:sp>
        <p:nvSpPr>
          <p:cNvPr id="9" name="Source code column 2"/>
          <p:cNvSpPr txBox="1"/>
          <p:nvPr/>
        </p:nvSpPr>
        <p:spPr>
          <a:xfrm>
            <a:off x="6720840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front = -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rear = -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"\nTicket %d cancelled successfully.\n"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ticketNo);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(found ==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"\nTicket %d not found in pending bookings.\n"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ticketNo);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showLastCancellation()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(top == -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"\nNo cancelled tickets.\n"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"\n===== LAST CANCELLED TICKET =====\n"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"Ticket Number : %d\n"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stack[top].ticketNo);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"Customer Name : %s\n"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stack[top].customerName);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"Movie Name    : %s\n"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stack[top].movieName);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"Seat Number   : %d\n"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stack[top].seatNo);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56248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 Code – Part 3</a:t>
            </a:r>
            <a:endParaRPr lang="en-US" sz="2600" dirty="0"/>
          </a:p>
        </p:txBody>
      </p:sp>
      <p:sp>
        <p:nvSpPr>
          <p:cNvPr id="3" name="Line range"/>
          <p:cNvSpPr txBox="1"/>
          <p:nvPr/>
        </p:nvSpPr>
        <p:spPr>
          <a:xfrm>
            <a:off x="813816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Lines 143–220 of 220</a:t>
            </a:r>
            <a:endParaRPr lang="en-US" sz="1400" dirty="0"/>
          </a:p>
        </p:txBody>
      </p:sp>
      <p:sp>
        <p:nvSpPr>
          <p:cNvPr id="4" name="Code panel 1"/>
          <p:cNvSpPr/>
          <p:nvPr/>
        </p:nvSpPr>
        <p:spPr>
          <a:xfrm>
            <a:off x="365760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</p:sp>
      <p:sp>
        <p:nvSpPr>
          <p:cNvPr id="5" name="Line numbers 1"/>
          <p:cNvSpPr txBox="1"/>
          <p:nvPr/>
        </p:nvSpPr>
        <p:spPr>
          <a:xfrm>
            <a:off x="457200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181</a:t>
            </a:r>
            <a:endParaRPr lang="en-US" sz="900" dirty="0"/>
          </a:p>
        </p:txBody>
      </p:sp>
      <p:sp>
        <p:nvSpPr>
          <p:cNvPr id="6" name="Source code column 1"/>
          <p:cNvSpPr txBox="1"/>
          <p:nvPr/>
        </p:nvSpPr>
        <p:spPr>
          <a:xfrm>
            <a:off x="932688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displayBookings()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(front == -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front &gt; rear)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"\nNo pending bookings.\n"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"\n========== PENDING BOOKINGS ==========\n"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 front; i &lt;= rear; i++)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"\nTicket Number : %d"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queue[i].ticketNo);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"\nCustomer Name : %s"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queue[i].customerName);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"\nMovie Name    : %s"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queue[i].movieName);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"\nSeat Number   : %d\n"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queue[i].seatNo);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"--------------------------------------\n"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choice;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"\n========================================\n"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 ONLINE TICKET BOOKING SYSTEM\n"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"========================================\n"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Code panel 2"/>
          <p:cNvSpPr/>
          <p:nvPr/>
        </p:nvSpPr>
        <p:spPr>
          <a:xfrm>
            <a:off x="6153912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</p:sp>
      <p:sp>
        <p:nvSpPr>
          <p:cNvPr id="8" name="Line numbers 2"/>
          <p:cNvSpPr txBox="1"/>
          <p:nvPr/>
        </p:nvSpPr>
        <p:spPr>
          <a:xfrm>
            <a:off x="6245352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211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212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213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214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215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216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218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219</a:t>
            </a:r>
            <a:endParaRPr lang="en-US" sz="9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</a:t>
            </a:r>
            <a:endParaRPr lang="en-US" sz="900" dirty="0"/>
          </a:p>
        </p:txBody>
      </p:sp>
      <p:sp>
        <p:nvSpPr>
          <p:cNvPr id="9" name="Source code column 2"/>
          <p:cNvSpPr txBox="1"/>
          <p:nvPr/>
        </p:nvSpPr>
        <p:spPr>
          <a:xfrm>
            <a:off x="6720840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 Book Ticket\n"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"2. Cancel Ticket\n"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"3. Show Last Cancellation\n"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"4. Display current Bookings\n"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"5. Exit\n"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"\nEnter your choice: 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&amp;choice);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(choice)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bookTicket();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cancelTicket();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showLastCancellation();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displayBookings();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"\nThank you for using the system!\n"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printf(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"\nInvalid choice! Try again.\n"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56248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Code Explanation</a:t>
            </a:r>
            <a:endParaRPr lang="en-US" sz="3400" dirty="0"/>
          </a:p>
        </p:txBody>
      </p:sp>
      <p:sp>
        <p:nvSpPr>
          <p:cNvPr id="3" name="Data heading"/>
          <p:cNvSpPr txBox="1"/>
          <p:nvPr/>
        </p:nvSpPr>
        <p:spPr>
          <a:xfrm>
            <a:off x="548640" y="132588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</a:t>
            </a:r>
            <a:endParaRPr lang="en-US" sz="1600" dirty="0"/>
          </a:p>
        </p:txBody>
      </p:sp>
      <p:sp>
        <p:nvSpPr>
          <p:cNvPr id="4" name="struct Ticket card"/>
          <p:cNvSpPr/>
          <p:nvPr/>
        </p:nvSpPr>
        <p:spPr>
          <a:xfrm>
            <a:off x="548640" y="1874520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5" name="struct Ticket text"/>
          <p:cNvSpPr txBox="1"/>
          <p:nvPr/>
        </p:nvSpPr>
        <p:spPr>
          <a:xfrm>
            <a:off x="731520" y="1874520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Ticket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Stores all information related to one ticket.</a:t>
            </a:r>
            <a:endParaRPr lang="en-US" sz="1400" dirty="0"/>
          </a:p>
        </p:txBody>
      </p:sp>
      <p:sp>
        <p:nvSpPr>
          <p:cNvPr id="6" name="queue[MAX] card"/>
          <p:cNvSpPr/>
          <p:nvPr/>
        </p:nvSpPr>
        <p:spPr>
          <a:xfrm>
            <a:off x="548640" y="2734056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7" name="queue[MAX] text"/>
          <p:cNvSpPr txBox="1"/>
          <p:nvPr/>
        </p:nvSpPr>
        <p:spPr>
          <a:xfrm>
            <a:off x="731520" y="2734056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queue[MAX]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Stores pending tickets.</a:t>
            </a:r>
            <a:endParaRPr lang="en-US" sz="1400" dirty="0"/>
          </a:p>
        </p:txBody>
      </p:sp>
      <p:sp>
        <p:nvSpPr>
          <p:cNvPr id="8" name="stack[MAX] card"/>
          <p:cNvSpPr/>
          <p:nvPr/>
        </p:nvSpPr>
        <p:spPr>
          <a:xfrm>
            <a:off x="548640" y="3593592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9" name="stack[MAX] text"/>
          <p:cNvSpPr txBox="1"/>
          <p:nvPr/>
        </p:nvSpPr>
        <p:spPr>
          <a:xfrm>
            <a:off x="731520" y="3593592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stack[MAX]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Stores cancelled tickets.</a:t>
            </a:r>
            <a:endParaRPr lang="en-US" sz="1400" dirty="0"/>
          </a:p>
        </p:txBody>
      </p:sp>
      <p:sp>
        <p:nvSpPr>
          <p:cNvPr id="10" name="front and rear card"/>
          <p:cNvSpPr/>
          <p:nvPr/>
        </p:nvSpPr>
        <p:spPr>
          <a:xfrm>
            <a:off x="548640" y="4453128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1" name="front and rear text"/>
          <p:cNvSpPr txBox="1"/>
          <p:nvPr/>
        </p:nvSpPr>
        <p:spPr>
          <a:xfrm>
            <a:off x="731520" y="4453128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and rear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Used to manage the pending booking queue.</a:t>
            </a:r>
            <a:endParaRPr lang="en-US" sz="1400" dirty="0"/>
          </a:p>
        </p:txBody>
      </p:sp>
      <p:sp>
        <p:nvSpPr>
          <p:cNvPr id="12" name="top card"/>
          <p:cNvSpPr/>
          <p:nvPr/>
        </p:nvSpPr>
        <p:spPr>
          <a:xfrm>
            <a:off x="548640" y="5312664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3" name="top text"/>
          <p:cNvSpPr txBox="1"/>
          <p:nvPr/>
        </p:nvSpPr>
        <p:spPr>
          <a:xfrm>
            <a:off x="731520" y="5312664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Used to manage the cancelled-ticket stack.</a:t>
            </a:r>
            <a:endParaRPr lang="en-US" sz="1400" dirty="0"/>
          </a:p>
        </p:txBody>
      </p:sp>
      <p:sp>
        <p:nvSpPr>
          <p:cNvPr id="14" name="Functions heading"/>
          <p:cNvSpPr txBox="1"/>
          <p:nvPr/>
        </p:nvSpPr>
        <p:spPr>
          <a:xfrm>
            <a:off x="6172200" y="132588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Functions</a:t>
            </a:r>
            <a:endParaRPr lang="en-US" sz="1600" dirty="0"/>
          </a:p>
        </p:txBody>
      </p:sp>
      <p:sp>
        <p:nvSpPr>
          <p:cNvPr id="15" name="bookTicket() card"/>
          <p:cNvSpPr/>
          <p:nvPr/>
        </p:nvSpPr>
        <p:spPr>
          <a:xfrm>
            <a:off x="6172200" y="1874520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6" name="bookTicket() text"/>
          <p:cNvSpPr txBox="1"/>
          <p:nvPr/>
        </p:nvSpPr>
        <p:spPr>
          <a:xfrm>
            <a:off x="6355080" y="1874520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bookTicket()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Takes customer, movie, ticket and seat information and adds it to the queue.</a:t>
            </a:r>
            <a:endParaRPr lang="en-US" sz="1400" dirty="0"/>
          </a:p>
        </p:txBody>
      </p:sp>
      <p:sp>
        <p:nvSpPr>
          <p:cNvPr id="17" name="cancelTicket() card"/>
          <p:cNvSpPr/>
          <p:nvPr/>
        </p:nvSpPr>
        <p:spPr>
          <a:xfrm>
            <a:off x="6172200" y="2734056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8" name="cancelTicket() text"/>
          <p:cNvSpPr txBox="1"/>
          <p:nvPr/>
        </p:nvSpPr>
        <p:spPr>
          <a:xfrm>
            <a:off x="6355080" y="2734056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cancelTicket()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Searches for a ticket, pushes it into the stack and removes it from the queue by shifting elements.</a:t>
            </a:r>
            <a:endParaRPr lang="en-US" sz="1400" dirty="0"/>
          </a:p>
        </p:txBody>
      </p:sp>
      <p:sp>
        <p:nvSpPr>
          <p:cNvPr id="19" name="showLastCancellation() card"/>
          <p:cNvSpPr/>
          <p:nvPr/>
        </p:nvSpPr>
        <p:spPr>
          <a:xfrm>
            <a:off x="6172200" y="3593592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0" name="showLastCancellation() text"/>
          <p:cNvSpPr txBox="1"/>
          <p:nvPr/>
        </p:nvSpPr>
        <p:spPr>
          <a:xfrm>
            <a:off x="6355080" y="3593592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showLastCancellation()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Displays the ticket at the top of the stack.</a:t>
            </a:r>
            <a:endParaRPr lang="en-US" sz="1400" dirty="0"/>
          </a:p>
        </p:txBody>
      </p:sp>
      <p:sp>
        <p:nvSpPr>
          <p:cNvPr id="21" name="displayBookings() card"/>
          <p:cNvSpPr/>
          <p:nvPr/>
        </p:nvSpPr>
        <p:spPr>
          <a:xfrm>
            <a:off x="6172200" y="4453128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2" name="displayBookings() text"/>
          <p:cNvSpPr txBox="1"/>
          <p:nvPr/>
        </p:nvSpPr>
        <p:spPr>
          <a:xfrm>
            <a:off x="6355080" y="4453128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displayBookings()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Traverses the queue and displays all pending tickets.</a:t>
            </a:r>
            <a:endParaRPr lang="en-US" sz="1400" dirty="0"/>
          </a:p>
        </p:txBody>
      </p:sp>
      <p:sp>
        <p:nvSpPr>
          <p:cNvPr id="23" name="main() card"/>
          <p:cNvSpPr/>
          <p:nvPr/>
        </p:nvSpPr>
        <p:spPr>
          <a:xfrm>
            <a:off x="6172200" y="5312664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4" name="main() text"/>
          <p:cNvSpPr txBox="1"/>
          <p:nvPr/>
        </p:nvSpPr>
        <p:spPr>
          <a:xfrm>
            <a:off x="6355080" y="5312664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Controls the complete menu-driven program.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Stack Operations: Push and Pop</a:t>
            </a:r>
            <a:endParaRPr lang="en-US" sz="3400" dirty="0"/>
          </a:p>
        </p:txBody>
      </p:sp>
      <p:sp>
        <p:nvSpPr>
          <p:cNvPr id="3" name="Push card"/>
          <p:cNvSpPr/>
          <p:nvPr/>
        </p:nvSpPr>
        <p:spPr>
          <a:xfrm>
            <a:off x="548640" y="1325880"/>
            <a:ext cx="544068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Check circle"/>
          <p:cNvSpPr/>
          <p:nvPr/>
        </p:nvSpPr>
        <p:spPr>
          <a:xfrm>
            <a:off x="777240" y="148132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1617116"/>
            <a:ext cx="231343" cy="231343"/>
          </a:xfrm>
          <a:prstGeom prst="rect">
            <a:avLst/>
          </a:prstGeom>
        </p:spPr>
      </p:pic>
      <p:sp>
        <p:nvSpPr>
          <p:cNvPr id="6" name="Push heading"/>
          <p:cNvSpPr txBox="1"/>
          <p:nvPr/>
        </p:nvSpPr>
        <p:spPr>
          <a:xfrm>
            <a:off x="1463040" y="1481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PUSH – USED</a:t>
            </a:r>
            <a:endParaRPr lang="en-US" sz="2400" dirty="0"/>
          </a:p>
        </p:txBody>
      </p:sp>
      <p:sp>
        <p:nvSpPr>
          <p:cNvPr id="7" name="Push intro"/>
          <p:cNvSpPr txBox="1"/>
          <p:nvPr/>
        </p:nvSpPr>
        <p:spPr>
          <a:xfrm>
            <a:off x="77724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When a ticket is cancelled:</a:t>
            </a:r>
            <a:endParaRPr lang="en-US" sz="1400" dirty="0"/>
          </a:p>
        </p:txBody>
      </p:sp>
      <p:sp>
        <p:nvSpPr>
          <p:cNvPr id="8" name="Push code panel"/>
          <p:cNvSpPr/>
          <p:nvPr/>
        </p:nvSpPr>
        <p:spPr>
          <a:xfrm>
            <a:off x="777240" y="2423160"/>
            <a:ext cx="498348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</p:sp>
      <p:sp>
        <p:nvSpPr>
          <p:cNvPr id="9" name="Push code"/>
          <p:cNvSpPr txBox="1"/>
          <p:nvPr/>
        </p:nvSpPr>
        <p:spPr>
          <a:xfrm>
            <a:off x="960120" y="24231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top++;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stack[top] = queue[i];</a:t>
            </a:r>
            <a:endParaRPr lang="en-US" sz="1600" dirty="0"/>
          </a:p>
        </p:txBody>
      </p:sp>
      <p:sp>
        <p:nvSpPr>
          <p:cNvPr id="10" name="Push explanation"/>
          <p:cNvSpPr txBox="1"/>
          <p:nvPr/>
        </p:nvSpPr>
        <p:spPr>
          <a:xfrm>
            <a:off x="777240" y="32918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This is the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PUSH operation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The cancelled ticket is inserted at the top of the stack.</a:t>
            </a:r>
            <a:endParaRPr lang="en-US" sz="1400" dirty="0"/>
          </a:p>
        </p:txBody>
      </p:sp>
      <p:sp>
        <p:nvSpPr>
          <p:cNvPr id="11" name="Pop card"/>
          <p:cNvSpPr/>
          <p:nvPr/>
        </p:nvSpPr>
        <p:spPr>
          <a:xfrm>
            <a:off x="6172200" y="1325880"/>
            <a:ext cx="544068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Not used circle"/>
          <p:cNvSpPr/>
          <p:nvPr/>
        </p:nvSpPr>
        <p:spPr>
          <a:xfrm>
            <a:off x="6400800" y="14813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Not us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588" y="1617116"/>
            <a:ext cx="231343" cy="231343"/>
          </a:xfrm>
          <a:prstGeom prst="rect">
            <a:avLst/>
          </a:prstGeom>
        </p:spPr>
      </p:pic>
      <p:sp>
        <p:nvSpPr>
          <p:cNvPr id="14" name="Pop heading"/>
          <p:cNvSpPr txBox="1"/>
          <p:nvPr/>
        </p:nvSpPr>
        <p:spPr>
          <a:xfrm>
            <a:off x="7086600" y="14813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POP – NOT USED</a:t>
            </a:r>
            <a:endParaRPr lang="en-US" sz="2400" dirty="0"/>
          </a:p>
        </p:txBody>
      </p:sp>
      <p:sp>
        <p:nvSpPr>
          <p:cNvPr id="15" name="Pop intro"/>
          <p:cNvSpPr txBox="1"/>
          <p:nvPr/>
        </p:nvSpPr>
        <p:spPr>
          <a:xfrm>
            <a:off x="6400800" y="2103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program does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perform a pop operation. It only displays:</a:t>
            </a:r>
            <a:endParaRPr lang="en-US" sz="1400" dirty="0"/>
          </a:p>
        </p:txBody>
      </p:sp>
      <p:sp>
        <p:nvSpPr>
          <p:cNvPr id="16" name="Pop code panel"/>
          <p:cNvSpPr/>
          <p:nvPr/>
        </p:nvSpPr>
        <p:spPr>
          <a:xfrm>
            <a:off x="6400800" y="2651760"/>
            <a:ext cx="498348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7" name="Pop code"/>
          <p:cNvSpPr txBox="1"/>
          <p:nvPr/>
        </p:nvSpPr>
        <p:spPr>
          <a:xfrm>
            <a:off x="6583680" y="26517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stack[top]</a:t>
            </a:r>
            <a:endParaRPr lang="en-US" sz="1600" dirty="0"/>
          </a:p>
        </p:txBody>
      </p:sp>
      <p:sp>
        <p:nvSpPr>
          <p:cNvPr id="18" name="Push used chip"/>
          <p:cNvSpPr txBox="1"/>
          <p:nvPr/>
        </p:nvSpPr>
        <p:spPr>
          <a:xfrm>
            <a:off x="6400800" y="3291840"/>
            <a:ext cx="2377440" cy="411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Push = Used</a:t>
            </a:r>
            <a:endParaRPr lang="en-US" sz="1600" dirty="0"/>
          </a:p>
        </p:txBody>
      </p:sp>
      <p:sp>
        <p:nvSpPr>
          <p:cNvPr id="19" name="Pop not used chip"/>
          <p:cNvSpPr txBox="1"/>
          <p:nvPr/>
        </p:nvSpPr>
        <p:spPr>
          <a:xfrm>
            <a:off x="8961120" y="3291840"/>
            <a:ext cx="2423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Pop = Not Used</a:t>
            </a:r>
            <a:endParaRPr lang="en-US" sz="1600" dirty="0"/>
          </a:p>
        </p:txBody>
      </p:sp>
      <p:sp>
        <p:nvSpPr>
          <p:cNvPr id="20" name="LIFO heading"/>
          <p:cNvSpPr txBox="1"/>
          <p:nvPr/>
        </p:nvSpPr>
        <p:spPr>
          <a:xfrm>
            <a:off x="548640" y="4160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LIFO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: Last In, First Out</a:t>
            </a:r>
            <a:endParaRPr lang="en-US" sz="2200" dirty="0"/>
          </a:p>
        </p:txBody>
      </p:sp>
      <p:sp>
        <p:nvSpPr>
          <p:cNvPr id="21" name="Number 1"/>
          <p:cNvSpPr txBox="1"/>
          <p:nvPr/>
        </p:nvSpPr>
        <p:spPr>
          <a:xfrm>
            <a:off x="548640" y="4709160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Example 1"/>
          <p:cNvSpPr txBox="1"/>
          <p:nvPr/>
        </p:nvSpPr>
        <p:spPr>
          <a:xfrm>
            <a:off x="1051560" y="47091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Cancel Ticket 101  →  Push 101</a:t>
            </a:r>
            <a:endParaRPr lang="en-US" sz="1700" dirty="0"/>
          </a:p>
        </p:txBody>
      </p:sp>
      <p:sp>
        <p:nvSpPr>
          <p:cNvPr id="23" name="Number 2"/>
          <p:cNvSpPr txBox="1"/>
          <p:nvPr/>
        </p:nvSpPr>
        <p:spPr>
          <a:xfrm>
            <a:off x="548640" y="5166360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Example 2"/>
          <p:cNvSpPr txBox="1"/>
          <p:nvPr/>
        </p:nvSpPr>
        <p:spPr>
          <a:xfrm>
            <a:off x="1051560" y="51663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Cancel Ticket 102  →  Push 102</a:t>
            </a:r>
            <a:endParaRPr lang="en-US" sz="1700" dirty="0"/>
          </a:p>
        </p:txBody>
      </p:sp>
      <p:sp>
        <p:nvSpPr>
          <p:cNvPr id="25" name="Number 3"/>
          <p:cNvSpPr txBox="1"/>
          <p:nvPr/>
        </p:nvSpPr>
        <p:spPr>
          <a:xfrm>
            <a:off x="548640" y="5623560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Example 3"/>
          <p:cNvSpPr txBox="1"/>
          <p:nvPr/>
        </p:nvSpPr>
        <p:spPr>
          <a:xfrm>
            <a:off x="1051560" y="56235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Cancel Ticket 103  →  Push 103</a:t>
            </a:r>
            <a:endParaRPr lang="en-US" sz="1700" dirty="0"/>
          </a:p>
        </p:txBody>
      </p:sp>
      <p:sp>
        <p:nvSpPr>
          <p:cNvPr id="27" name="LIFO result"/>
          <p:cNvSpPr txBox="1"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Top = 103, so </a:t>
            </a:r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 103</a:t>
            </a:r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is the last cancellation displayed.</a:t>
            </a:r>
            <a:endParaRPr lang="en-US" sz="1600" dirty="0"/>
          </a:p>
        </p:txBody>
      </p:sp>
      <p:sp>
        <p:nvSpPr>
          <p:cNvPr id="28" name="Stack picture 103"/>
          <p:cNvSpPr txBox="1"/>
          <p:nvPr/>
        </p:nvSpPr>
        <p:spPr>
          <a:xfrm>
            <a:off x="8595360" y="4297680"/>
            <a:ext cx="2194560" cy="4754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 103</a:t>
            </a:r>
            <a:endParaRPr lang="en-US" sz="1600" dirty="0"/>
          </a:p>
        </p:txBody>
      </p:sp>
      <p:sp>
        <p:nvSpPr>
          <p:cNvPr id="29" name="Stack picture 102"/>
          <p:cNvSpPr txBox="1"/>
          <p:nvPr/>
        </p:nvSpPr>
        <p:spPr>
          <a:xfrm>
            <a:off x="8595360" y="4828032"/>
            <a:ext cx="2194560" cy="47548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 102</a:t>
            </a:r>
            <a:endParaRPr lang="en-US" sz="1600" dirty="0"/>
          </a:p>
        </p:txBody>
      </p:sp>
      <p:sp>
        <p:nvSpPr>
          <p:cNvPr id="30" name="Stack picture 101"/>
          <p:cNvSpPr txBox="1"/>
          <p:nvPr/>
        </p:nvSpPr>
        <p:spPr>
          <a:xfrm>
            <a:off x="8595360" y="5358384"/>
            <a:ext cx="2194560" cy="47548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 101</a:t>
            </a:r>
            <a:endParaRPr lang="en-US" sz="1600" dirty="0"/>
          </a:p>
        </p:txBody>
      </p:sp>
      <p:sp>
        <p:nvSpPr>
          <p:cNvPr id="31" name="top pointer label"/>
          <p:cNvSpPr txBox="1"/>
          <p:nvPr/>
        </p:nvSpPr>
        <p:spPr>
          <a:xfrm>
            <a:off x="7772400" y="429768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top</a:t>
            </a:r>
            <a:endParaRPr lang="en-US" sz="1600" dirty="0"/>
          </a:p>
        </p:txBody>
      </p:sp>
      <p:sp>
        <p:nvSpPr>
          <p:cNvPr id="32" name="Arrow"/>
          <p:cNvSpPr/>
          <p:nvPr/>
        </p:nvSpPr>
        <p:spPr>
          <a:xfrm>
            <a:off x="8366760" y="4535424"/>
            <a:ext cx="18288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Stack label"/>
          <p:cNvSpPr txBox="1"/>
          <p:nvPr/>
        </p:nvSpPr>
        <p:spPr>
          <a:xfrm>
            <a:off x="8595360" y="5897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Searching and Traversal</a:t>
            </a:r>
            <a:endParaRPr lang="en-US" sz="3400" dirty="0"/>
          </a:p>
        </p:txBody>
      </p:sp>
      <p:sp>
        <p:nvSpPr>
          <p:cNvPr id="3" name="Searching card"/>
          <p:cNvSpPr/>
          <p:nvPr/>
        </p:nvSpPr>
        <p:spPr>
          <a:xfrm>
            <a:off x="548640" y="1325880"/>
            <a:ext cx="548640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Search circle"/>
          <p:cNvSpPr/>
          <p:nvPr/>
        </p:nvSpPr>
        <p:spPr>
          <a:xfrm>
            <a:off x="777240" y="148132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1617116"/>
            <a:ext cx="231343" cy="231343"/>
          </a:xfrm>
          <a:prstGeom prst="rect">
            <a:avLst/>
          </a:prstGeom>
        </p:spPr>
      </p:pic>
      <p:sp>
        <p:nvSpPr>
          <p:cNvPr id="6" name="Searching heading"/>
          <p:cNvSpPr txBox="1"/>
          <p:nvPr/>
        </p:nvSpPr>
        <p:spPr>
          <a:xfrm>
            <a:off x="1463040" y="1481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SEARCHING</a:t>
            </a:r>
            <a:endParaRPr lang="en-US" sz="2400" dirty="0"/>
          </a:p>
        </p:txBody>
      </p:sp>
      <p:sp>
        <p:nvSpPr>
          <p:cNvPr id="7" name="Linear search intro"/>
          <p:cNvSpPr txBox="1"/>
          <p:nvPr/>
        </p:nvSpPr>
        <p:spPr>
          <a:xfrm>
            <a:off x="77724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program uses </a:t>
            </a:r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Linear Search</a:t>
            </a:r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This loop checks tickets one by one:</a:t>
            </a:r>
            <a:endParaRPr lang="en-US" sz="1600" dirty="0"/>
          </a:p>
        </p:txBody>
      </p:sp>
      <p:sp>
        <p:nvSpPr>
          <p:cNvPr id="8" name="Search loop code panel"/>
          <p:cNvSpPr/>
          <p:nvPr/>
        </p:nvSpPr>
        <p:spPr>
          <a:xfrm>
            <a:off x="777240" y="2743200"/>
            <a:ext cx="502920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/>
        </p:spPr>
      </p:sp>
      <p:sp>
        <p:nvSpPr>
          <p:cNvPr id="9" name="Search loop code"/>
          <p:cNvSpPr txBox="1"/>
          <p:nvPr/>
        </p:nvSpPr>
        <p:spPr>
          <a:xfrm>
            <a:off x="960120" y="2743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 front; i &lt;= rear; i++)</a:t>
            </a:r>
            <a:endParaRPr lang="en-US" sz="1600" dirty="0"/>
          </a:p>
        </p:txBody>
      </p:sp>
      <p:sp>
        <p:nvSpPr>
          <p:cNvPr id="10" name="Compare intro"/>
          <p:cNvSpPr txBox="1"/>
          <p:nvPr/>
        </p:nvSpPr>
        <p:spPr>
          <a:xfrm>
            <a:off x="77724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ticket number is compared using:</a:t>
            </a:r>
            <a:endParaRPr lang="en-US" sz="1600" dirty="0"/>
          </a:p>
        </p:txBody>
      </p:sp>
      <p:sp>
        <p:nvSpPr>
          <p:cNvPr id="11" name="Compare code panel"/>
          <p:cNvSpPr/>
          <p:nvPr/>
        </p:nvSpPr>
        <p:spPr>
          <a:xfrm>
            <a:off x="777240" y="3749040"/>
            <a:ext cx="502920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/>
        </p:spPr>
      </p:sp>
      <p:sp>
        <p:nvSpPr>
          <p:cNvPr id="12" name="Compare code"/>
          <p:cNvSpPr txBox="1"/>
          <p:nvPr/>
        </p:nvSpPr>
        <p:spPr>
          <a:xfrm>
            <a:off x="960120" y="3749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queue[i].ticketNo == ticketNo</a:t>
            </a:r>
            <a:endParaRPr lang="en-US" sz="1600" dirty="0"/>
          </a:p>
        </p:txBody>
      </p:sp>
      <p:sp>
        <p:nvSpPr>
          <p:cNvPr id="13" name="Linear search chip"/>
          <p:cNvSpPr txBox="1"/>
          <p:nvPr/>
        </p:nvSpPr>
        <p:spPr>
          <a:xfrm>
            <a:off x="777240" y="4434840"/>
            <a:ext cx="338328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Searching = Linear Search</a:t>
            </a:r>
            <a:endParaRPr lang="en-US" sz="1500" dirty="0"/>
          </a:p>
        </p:txBody>
      </p:sp>
      <p:sp>
        <p:nvSpPr>
          <p:cNvPr id="14" name="Binary search chip"/>
          <p:cNvSpPr txBox="1"/>
          <p:nvPr/>
        </p:nvSpPr>
        <p:spPr>
          <a:xfrm>
            <a:off x="777240" y="4892040"/>
            <a:ext cx="33832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Binary Search = NOT USED</a:t>
            </a:r>
            <a:endParaRPr lang="en-US" sz="1500" dirty="0"/>
          </a:p>
        </p:txBody>
      </p:sp>
      <p:sp>
        <p:nvSpPr>
          <p:cNvPr id="15" name="Binary search reason"/>
          <p:cNvSpPr txBox="1"/>
          <p:nvPr/>
        </p:nvSpPr>
        <p:spPr>
          <a:xfrm>
            <a:off x="777240" y="537667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Binary search is not used because the ticket numbers are not maintained as a sorted array.</a:t>
            </a:r>
            <a:endParaRPr lang="en-US" sz="1400" dirty="0"/>
          </a:p>
        </p:txBody>
      </p:sp>
      <p:sp>
        <p:nvSpPr>
          <p:cNvPr id="16" name="Traversal card"/>
          <p:cNvSpPr/>
          <p:nvPr/>
        </p:nvSpPr>
        <p:spPr>
          <a:xfrm>
            <a:off x="6217920" y="1325880"/>
            <a:ext cx="539496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7" name="Traversal circle"/>
          <p:cNvSpPr/>
          <p:nvPr/>
        </p:nvSpPr>
        <p:spPr>
          <a:xfrm>
            <a:off x="6446520" y="148132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1" descr="Travers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308" y="1617116"/>
            <a:ext cx="231343" cy="231343"/>
          </a:xfrm>
          <a:prstGeom prst="rect">
            <a:avLst/>
          </a:prstGeom>
        </p:spPr>
      </p:pic>
      <p:sp>
        <p:nvSpPr>
          <p:cNvPr id="19" name="Traversal heading"/>
          <p:cNvSpPr txBox="1"/>
          <p:nvPr/>
        </p:nvSpPr>
        <p:spPr>
          <a:xfrm>
            <a:off x="7132320" y="1481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TRAVERSAL</a:t>
            </a:r>
            <a:endParaRPr lang="en-US" sz="2400" dirty="0"/>
          </a:p>
        </p:txBody>
      </p:sp>
      <p:sp>
        <p:nvSpPr>
          <p:cNvPr id="20" name="Traversal intro"/>
          <p:cNvSpPr txBox="1"/>
          <p:nvPr/>
        </p:nvSpPr>
        <p:spPr>
          <a:xfrm>
            <a:off x="644652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Traversal is used in two places:</a:t>
            </a:r>
            <a:endParaRPr lang="en-US" sz="1600" dirty="0"/>
          </a:p>
        </p:txBody>
      </p:sp>
      <p:sp>
        <p:nvSpPr>
          <p:cNvPr id="21" name="Traversal list"/>
          <p:cNvSpPr txBox="1"/>
          <p:nvPr/>
        </p:nvSpPr>
        <p:spPr>
          <a:xfrm>
            <a:off x="6446520" y="25603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cancelTicket()</a:t>
            </a:r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traverses the queue to search for a ticket.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displayBookings()</a:t>
            </a:r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traverses the queue to display every pending booking.</a:t>
            </a:r>
            <a:endParaRPr lang="en-US" sz="1600" dirty="0"/>
          </a:p>
        </p:txBody>
      </p:sp>
      <p:sp>
        <p:nvSpPr>
          <p:cNvPr id="22" name="Traversal chip"/>
          <p:cNvSpPr txBox="1"/>
          <p:nvPr/>
        </p:nvSpPr>
        <p:spPr>
          <a:xfrm>
            <a:off x="6446520" y="3977640"/>
            <a:ext cx="265176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Traversal = YES</a:t>
            </a:r>
            <a:endParaRPr lang="en-US" sz="1500" dirty="0"/>
          </a:p>
        </p:txBody>
      </p:sp>
      <p:sp>
        <p:nvSpPr>
          <p:cNvPr id="23" name="Traversal diagram caption"/>
          <p:cNvSpPr txBox="1"/>
          <p:nvPr/>
        </p:nvSpPr>
        <p:spPr>
          <a:xfrm>
            <a:off x="644652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loop visits tickets from front to rear:</a:t>
            </a:r>
            <a:endParaRPr lang="en-US" sz="1400" dirty="0"/>
          </a:p>
        </p:txBody>
      </p:sp>
      <p:sp>
        <p:nvSpPr>
          <p:cNvPr id="24" name="Traversal box 101"/>
          <p:cNvSpPr txBox="1"/>
          <p:nvPr/>
        </p:nvSpPr>
        <p:spPr>
          <a:xfrm>
            <a:off x="6446520" y="4937760"/>
            <a:ext cx="91440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101</a:t>
            </a:r>
            <a:endParaRPr lang="en-US" sz="1600" dirty="0"/>
          </a:p>
        </p:txBody>
      </p:sp>
      <p:sp>
        <p:nvSpPr>
          <p:cNvPr id="25" name="Arrow"/>
          <p:cNvSpPr/>
          <p:nvPr/>
        </p:nvSpPr>
        <p:spPr>
          <a:xfrm>
            <a:off x="7360920" y="5189220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Traversal box 102"/>
          <p:cNvSpPr txBox="1"/>
          <p:nvPr/>
        </p:nvSpPr>
        <p:spPr>
          <a:xfrm>
            <a:off x="7635240" y="4937760"/>
            <a:ext cx="91440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102</a:t>
            </a:r>
            <a:endParaRPr lang="en-US" sz="1600" dirty="0"/>
          </a:p>
        </p:txBody>
      </p:sp>
      <p:sp>
        <p:nvSpPr>
          <p:cNvPr id="27" name="Arrow"/>
          <p:cNvSpPr/>
          <p:nvPr/>
        </p:nvSpPr>
        <p:spPr>
          <a:xfrm>
            <a:off x="8549640" y="5189220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Traversal box 103"/>
          <p:cNvSpPr txBox="1"/>
          <p:nvPr/>
        </p:nvSpPr>
        <p:spPr>
          <a:xfrm>
            <a:off x="8823960" y="4937760"/>
            <a:ext cx="91440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103</a:t>
            </a:r>
            <a:endParaRPr lang="en-US" sz="1600" dirty="0"/>
          </a:p>
        </p:txBody>
      </p:sp>
      <p:sp>
        <p:nvSpPr>
          <p:cNvPr id="29" name="Arrow"/>
          <p:cNvSpPr/>
          <p:nvPr/>
        </p:nvSpPr>
        <p:spPr>
          <a:xfrm>
            <a:off x="9738360" y="5189220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Traversal box 104"/>
          <p:cNvSpPr txBox="1"/>
          <p:nvPr/>
        </p:nvSpPr>
        <p:spPr>
          <a:xfrm>
            <a:off x="10012680" y="4937760"/>
            <a:ext cx="91440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104</a:t>
            </a:r>
            <a:endParaRPr lang="en-US" sz="1600" dirty="0"/>
          </a:p>
        </p:txBody>
      </p:sp>
      <p:sp>
        <p:nvSpPr>
          <p:cNvPr id="31" name="front label"/>
          <p:cNvSpPr txBox="1"/>
          <p:nvPr/>
        </p:nvSpPr>
        <p:spPr>
          <a:xfrm>
            <a:off x="6446520" y="5532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 = front</a:t>
            </a:r>
            <a:endParaRPr lang="en-US" sz="1200" dirty="0"/>
          </a:p>
        </p:txBody>
      </p:sp>
      <p:sp>
        <p:nvSpPr>
          <p:cNvPr id="32" name="rear label"/>
          <p:cNvSpPr txBox="1"/>
          <p:nvPr/>
        </p:nvSpPr>
        <p:spPr>
          <a:xfrm>
            <a:off x="10012680" y="5532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 = rear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Time Complexity</a:t>
            </a:r>
            <a:endParaRPr lang="en-US" sz="3400" dirty="0"/>
          </a:p>
        </p:txBody>
      </p:sp>
      <p:graphicFrame>
        <p:nvGraphicFramePr>
          <p:cNvPr id="15" name="Time complex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468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one ticket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k tickets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 for cancellation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push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Shifting after cancellation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cancellation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last cancellation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all bookings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N definition card"/>
          <p:cNvSpPr/>
          <p:nvPr/>
        </p:nvSpPr>
        <p:spPr>
          <a:xfrm>
            <a:off x="7680960" y="141732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N and k text"/>
          <p:cNvSpPr txBox="1"/>
          <p:nvPr/>
        </p:nvSpPr>
        <p:spPr>
          <a:xfrm>
            <a:off x="7955280" y="14173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= number of pending tickets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k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= tickets booked at one time</a:t>
            </a:r>
            <a:endParaRPr lang="en-US" sz="1800" dirty="0"/>
          </a:p>
        </p:txBody>
      </p:sp>
      <p:sp>
        <p:nvSpPr>
          <p:cNvPr id="6" name="Cancellation card"/>
          <p:cNvSpPr/>
          <p:nvPr/>
        </p:nvSpPr>
        <p:spPr>
          <a:xfrm>
            <a:off x="7680960" y="297180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Cancellation text"/>
          <p:cNvSpPr txBox="1"/>
          <p:nvPr/>
        </p:nvSpPr>
        <p:spPr>
          <a:xfrm>
            <a:off x="7909560" y="2971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Cancellation is O(N)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Searching and shifting may check or move many elements.</a:t>
            </a:r>
            <a:endParaRPr lang="en-US" sz="1500" dirty="0"/>
          </a:p>
        </p:txBody>
      </p:sp>
      <p:sp>
        <p:nvSpPr>
          <p:cNvPr id="8" name="Display card"/>
          <p:cNvSpPr/>
          <p:nvPr/>
        </p:nvSpPr>
        <p:spPr>
          <a:xfrm>
            <a:off x="7680960" y="452628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9" name="Display text"/>
          <p:cNvSpPr txBox="1"/>
          <p:nvPr/>
        </p:nvSpPr>
        <p:spPr>
          <a:xfrm>
            <a:off x="7909560" y="4526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Display bookings is O(N)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Every pending booking is visited.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Space Complexity</a:t>
            </a:r>
            <a:endParaRPr lang="en-US" sz="3400" dirty="0"/>
          </a:p>
        </p:txBody>
      </p:sp>
      <p:sp>
        <p:nvSpPr>
          <p:cNvPr id="3" name="Stat 1"/>
          <p:cNvSpPr/>
          <p:nvPr/>
        </p:nvSpPr>
        <p:spPr>
          <a:xfrm>
            <a:off x="548640" y="1417320"/>
            <a:ext cx="356616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822960" y="1554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5" name="Stat label 1"/>
          <p:cNvSpPr txBox="1"/>
          <p:nvPr/>
        </p:nvSpPr>
        <p:spPr>
          <a:xfrm>
            <a:off x="8229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queue elements (maximum)</a:t>
            </a:r>
            <a:endParaRPr lang="en-US" sz="1600" dirty="0"/>
          </a:p>
        </p:txBody>
      </p:sp>
      <p:sp>
        <p:nvSpPr>
          <p:cNvPr id="6" name="Stat 2"/>
          <p:cNvSpPr/>
          <p:nvPr/>
        </p:nvSpPr>
        <p:spPr>
          <a:xfrm>
            <a:off x="4297680" y="1417320"/>
            <a:ext cx="356616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</p:sp>
      <p:sp>
        <p:nvSpPr>
          <p:cNvPr id="7" name="Stat value 2"/>
          <p:cNvSpPr txBox="1"/>
          <p:nvPr/>
        </p:nvSpPr>
        <p:spPr>
          <a:xfrm>
            <a:off x="4572000" y="1554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8" name="Stat label 2"/>
          <p:cNvSpPr txBox="1"/>
          <p:nvPr/>
        </p:nvSpPr>
        <p:spPr>
          <a:xfrm>
            <a:off x="457200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stack elements (maximum)</a:t>
            </a:r>
            <a:endParaRPr lang="en-US" sz="1600" dirty="0"/>
          </a:p>
        </p:txBody>
      </p:sp>
      <p:sp>
        <p:nvSpPr>
          <p:cNvPr id="9" name="Stat 3"/>
          <p:cNvSpPr/>
          <p:nvPr/>
        </p:nvSpPr>
        <p:spPr>
          <a:xfrm>
            <a:off x="8046720" y="1417320"/>
            <a:ext cx="35661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/>
        </p:spPr>
      </p:sp>
      <p:sp>
        <p:nvSpPr>
          <p:cNvPr id="10" name="Stat value 3"/>
          <p:cNvSpPr txBox="1"/>
          <p:nvPr/>
        </p:nvSpPr>
        <p:spPr>
          <a:xfrm>
            <a:off x="8321040" y="1554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O(MAX)</a:t>
            </a:r>
            <a:endParaRPr lang="en-US" sz="4400" dirty="0"/>
          </a:p>
        </p:txBody>
      </p:sp>
      <p:sp>
        <p:nvSpPr>
          <p:cNvPr id="11" name="Stat label 3"/>
          <p:cNvSpPr txBox="1"/>
          <p:nvPr/>
        </p:nvSpPr>
        <p:spPr>
          <a:xfrm>
            <a:off x="83210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overall space complexity</a:t>
            </a:r>
            <a:endParaRPr lang="en-US" sz="1600" dirty="0"/>
          </a:p>
        </p:txBody>
      </p:sp>
      <p:sp>
        <p:nvSpPr>
          <p:cNvPr id="12" name="Arrays intro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program uses two fixed-size arrays:</a:t>
            </a:r>
            <a:endParaRPr lang="en-US" sz="1800" dirty="0"/>
          </a:p>
        </p:txBody>
      </p:sp>
      <p:sp>
        <p:nvSpPr>
          <p:cNvPr id="13" name="Arrays code panel"/>
          <p:cNvSpPr/>
          <p:nvPr/>
        </p:nvSpPr>
        <p:spPr>
          <a:xfrm>
            <a:off x="548640" y="3566160"/>
            <a:ext cx="566928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14" name="Arrays code"/>
          <p:cNvSpPr txBox="1"/>
          <p:nvPr/>
        </p:nvSpPr>
        <p:spPr>
          <a:xfrm>
            <a:off x="731520" y="35661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 queue[MAX];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 stack[MAX];</a:t>
            </a:r>
            <a:endParaRPr lang="en-US" sz="1800" dirty="0"/>
          </a:p>
        </p:txBody>
      </p:sp>
      <p:sp>
        <p:nvSpPr>
          <p:cNvPr id="15" name="Space explanation"/>
          <p:cNvSpPr txBox="1"/>
          <p:nvPr/>
        </p:nvSpPr>
        <p:spPr>
          <a:xfrm>
            <a:off x="548640" y="48463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where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= 50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program allocates space for a maximum of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50 queue elements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50 stack elements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 the fixed value MAX = 50, this is effectively a fixed amount of allocated memory.</a:t>
            </a:r>
            <a:endParaRPr lang="en-US" sz="1500" dirty="0"/>
          </a:p>
        </p:txBody>
      </p:sp>
      <p:sp>
        <p:nvSpPr>
          <p:cNvPr id="16" name="Ticket contents card"/>
          <p:cNvSpPr/>
          <p:nvPr/>
        </p:nvSpPr>
        <p:spPr>
          <a:xfrm>
            <a:off x="6583680" y="3108960"/>
            <a:ext cx="50292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7" name="Ticket contents heading"/>
          <p:cNvSpPr txBox="1"/>
          <p:nvPr/>
        </p:nvSpPr>
        <p:spPr>
          <a:xfrm>
            <a:off x="685800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Each ticket contains:</a:t>
            </a:r>
            <a:endParaRPr lang="en-US" sz="2000" dirty="0"/>
          </a:p>
        </p:txBody>
      </p:sp>
      <p:sp>
        <p:nvSpPr>
          <p:cNvPr id="18" name="ticketNo chip"/>
          <p:cNvSpPr txBox="1"/>
          <p:nvPr/>
        </p:nvSpPr>
        <p:spPr>
          <a:xfrm>
            <a:off x="6858000" y="3794760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ticketNo</a:t>
            </a:r>
            <a:endParaRPr lang="en-US" sz="1400" dirty="0"/>
          </a:p>
        </p:txBody>
      </p:sp>
      <p:sp>
        <p:nvSpPr>
          <p:cNvPr id="19" name="ticketNo description"/>
          <p:cNvSpPr txBox="1"/>
          <p:nvPr/>
        </p:nvSpPr>
        <p:spPr>
          <a:xfrm>
            <a:off x="896112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Integer ticket number</a:t>
            </a:r>
            <a:endParaRPr lang="en-US" sz="1600" dirty="0"/>
          </a:p>
        </p:txBody>
      </p:sp>
      <p:sp>
        <p:nvSpPr>
          <p:cNvPr id="20" name="customerName chip"/>
          <p:cNvSpPr txBox="1"/>
          <p:nvPr/>
        </p:nvSpPr>
        <p:spPr>
          <a:xfrm>
            <a:off x="6858000" y="4379976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customerName</a:t>
            </a:r>
            <a:endParaRPr lang="en-US" sz="1400" dirty="0"/>
          </a:p>
        </p:txBody>
      </p:sp>
      <p:sp>
        <p:nvSpPr>
          <p:cNvPr id="21" name="customerName description"/>
          <p:cNvSpPr txBox="1"/>
          <p:nvPr/>
        </p:nvSpPr>
        <p:spPr>
          <a:xfrm>
            <a:off x="8961120" y="43799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Customer name</a:t>
            </a:r>
            <a:endParaRPr lang="en-US" sz="1600" dirty="0"/>
          </a:p>
        </p:txBody>
      </p:sp>
      <p:sp>
        <p:nvSpPr>
          <p:cNvPr id="22" name="movieName chip"/>
          <p:cNvSpPr txBox="1"/>
          <p:nvPr/>
        </p:nvSpPr>
        <p:spPr>
          <a:xfrm>
            <a:off x="6858000" y="4965192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movieName</a:t>
            </a:r>
            <a:endParaRPr lang="en-US" sz="1400" dirty="0"/>
          </a:p>
        </p:txBody>
      </p:sp>
      <p:sp>
        <p:nvSpPr>
          <p:cNvPr id="23" name="movieName description"/>
          <p:cNvSpPr txBox="1"/>
          <p:nvPr/>
        </p:nvSpPr>
        <p:spPr>
          <a:xfrm>
            <a:off x="8961120" y="4965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Movie name</a:t>
            </a:r>
            <a:endParaRPr lang="en-US" sz="1600" dirty="0"/>
          </a:p>
        </p:txBody>
      </p:sp>
      <p:sp>
        <p:nvSpPr>
          <p:cNvPr id="24" name="seatNo chip"/>
          <p:cNvSpPr txBox="1"/>
          <p:nvPr/>
        </p:nvSpPr>
        <p:spPr>
          <a:xfrm>
            <a:off x="6858000" y="5550408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seatNo</a:t>
            </a:r>
            <a:endParaRPr lang="en-US" sz="1400" dirty="0"/>
          </a:p>
        </p:txBody>
      </p:sp>
      <p:sp>
        <p:nvSpPr>
          <p:cNvPr id="25" name="seatNo description"/>
          <p:cNvSpPr txBox="1"/>
          <p:nvPr/>
        </p:nvSpPr>
        <p:spPr>
          <a:xfrm>
            <a:off x="8961120" y="5550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Integer seat number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Sample Output</a:t>
            </a:r>
            <a:endParaRPr lang="en-US" sz="3400" dirty="0"/>
          </a:p>
        </p:txBody>
      </p:sp>
      <p:sp>
        <p:nvSpPr>
          <p:cNvPr id="3" name="Step 1: Book 2 tickets window"/>
          <p:cNvSpPr/>
          <p:nvPr/>
        </p:nvSpPr>
        <p:spPr>
          <a:xfrm>
            <a:off x="548640" y="1417320"/>
            <a:ext cx="5486400" cy="413308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Step 1: Book 2 tickets title bar"/>
          <p:cNvSpPr/>
          <p:nvPr/>
        </p:nvSpPr>
        <p:spPr>
          <a:xfrm>
            <a:off x="548640" y="1417320"/>
            <a:ext cx="5486400" cy="29260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Window dot"/>
          <p:cNvSpPr/>
          <p:nvPr/>
        </p:nvSpPr>
        <p:spPr>
          <a:xfrm>
            <a:off x="685800" y="150876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Window dot"/>
          <p:cNvSpPr/>
          <p:nvPr/>
        </p:nvSpPr>
        <p:spPr>
          <a:xfrm>
            <a:off x="886968" y="150876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Window dot"/>
          <p:cNvSpPr/>
          <p:nvPr/>
        </p:nvSpPr>
        <p:spPr>
          <a:xfrm>
            <a:off x="1088136" y="150876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Step 1: Book 2 tickets label"/>
          <p:cNvSpPr txBox="1"/>
          <p:nvPr/>
        </p:nvSpPr>
        <p:spPr>
          <a:xfrm>
            <a:off x="1371600" y="1417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Step 1: Book 2 tickets</a:t>
            </a:r>
            <a:endParaRPr lang="en-US" sz="1100" dirty="0"/>
          </a:p>
        </p:txBody>
      </p:sp>
      <p:sp>
        <p:nvSpPr>
          <p:cNvPr id="9" name="Step 1: Book 2 tickets text"/>
          <p:cNvSpPr txBox="1"/>
          <p:nvPr/>
        </p:nvSpPr>
        <p:spPr>
          <a:xfrm>
            <a:off x="731520" y="1801368"/>
            <a:ext cx="5212080" cy="365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ONLINE TICKET BOOKING SYSTEM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Book Ticket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Cancel Ticket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Show Last Cancellation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Display current Bookings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Exit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Customer Name: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Suhani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Movie Name: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Avengers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many tickets do you want to book?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1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Ticket Number: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Seat Number: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2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Ticket Number: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Seat Number: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ticket(s) booked successfully!</a:t>
            </a:r>
            <a:endParaRPr lang="en-US" sz="1000" dirty="0"/>
          </a:p>
        </p:txBody>
      </p:sp>
      <p:sp>
        <p:nvSpPr>
          <p:cNvPr id="10" name="Result card"/>
          <p:cNvSpPr/>
          <p:nvPr/>
        </p:nvSpPr>
        <p:spPr>
          <a:xfrm>
            <a:off x="548640" y="5733288"/>
            <a:ext cx="54864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1" name="Result text"/>
          <p:cNvSpPr txBox="1"/>
          <p:nvPr/>
        </p:nvSpPr>
        <p:spPr>
          <a:xfrm>
            <a:off x="777240" y="57332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Ticket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101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is pushed to the stack. Ticket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102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stays in the pending bookings.</a:t>
            </a:r>
            <a:endParaRPr lang="en-US" sz="1400" dirty="0"/>
          </a:p>
        </p:txBody>
      </p:sp>
      <p:sp>
        <p:nvSpPr>
          <p:cNvPr id="12" name="Step 2: Cancel ticket 101 window"/>
          <p:cNvSpPr/>
          <p:nvPr/>
        </p:nvSpPr>
        <p:spPr>
          <a:xfrm>
            <a:off x="6217920" y="1417320"/>
            <a:ext cx="5394960" cy="123748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Step 2: Cancel ticket 101 title bar"/>
          <p:cNvSpPr/>
          <p:nvPr/>
        </p:nvSpPr>
        <p:spPr>
          <a:xfrm>
            <a:off x="6217920" y="1417320"/>
            <a:ext cx="5394960" cy="29260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Window dot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Window dot"/>
          <p:cNvSpPr/>
          <p:nvPr/>
        </p:nvSpPr>
        <p:spPr>
          <a:xfrm>
            <a:off x="6556248" y="150876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Window dot"/>
          <p:cNvSpPr/>
          <p:nvPr/>
        </p:nvSpPr>
        <p:spPr>
          <a:xfrm>
            <a:off x="6757416" y="150876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Step 2: Cancel ticket 101 label"/>
          <p:cNvSpPr txBox="1"/>
          <p:nvPr/>
        </p:nvSpPr>
        <p:spPr>
          <a:xfrm>
            <a:off x="7040880" y="1417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Step 2: Cancel ticket 101</a:t>
            </a:r>
            <a:endParaRPr lang="en-US" sz="1100" dirty="0"/>
          </a:p>
        </p:txBody>
      </p:sp>
      <p:sp>
        <p:nvSpPr>
          <p:cNvPr id="18" name="Step 2: Cancel ticket 101 text"/>
          <p:cNvSpPr txBox="1"/>
          <p:nvPr/>
        </p:nvSpPr>
        <p:spPr>
          <a:xfrm>
            <a:off x="6400800" y="1801368"/>
            <a:ext cx="512064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Ticket Number to Cancel: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101 cancelled successfully.</a:t>
            </a:r>
            <a:endParaRPr lang="en-US" sz="1000" dirty="0"/>
          </a:p>
        </p:txBody>
      </p:sp>
      <p:sp>
        <p:nvSpPr>
          <p:cNvPr id="19" name="Step 3: Show last cancellation window"/>
          <p:cNvSpPr/>
          <p:nvPr/>
        </p:nvSpPr>
        <p:spPr>
          <a:xfrm>
            <a:off x="6217920" y="2764536"/>
            <a:ext cx="5394960" cy="154228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0" name="Step 3: Show last cancellation title bar"/>
          <p:cNvSpPr/>
          <p:nvPr/>
        </p:nvSpPr>
        <p:spPr>
          <a:xfrm>
            <a:off x="6217920" y="2764536"/>
            <a:ext cx="5394960" cy="29260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1" name="Window dot"/>
          <p:cNvSpPr/>
          <p:nvPr/>
        </p:nvSpPr>
        <p:spPr>
          <a:xfrm>
            <a:off x="6355080" y="2855976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Window dot"/>
          <p:cNvSpPr/>
          <p:nvPr/>
        </p:nvSpPr>
        <p:spPr>
          <a:xfrm>
            <a:off x="6556248" y="2855976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Window dot"/>
          <p:cNvSpPr/>
          <p:nvPr/>
        </p:nvSpPr>
        <p:spPr>
          <a:xfrm>
            <a:off x="6757416" y="2855976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Step 3: Show last cancellation label"/>
          <p:cNvSpPr txBox="1"/>
          <p:nvPr/>
        </p:nvSpPr>
        <p:spPr>
          <a:xfrm>
            <a:off x="7040880" y="27645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Step 3: Show last cancellation</a:t>
            </a:r>
            <a:endParaRPr lang="en-US" sz="1100" dirty="0"/>
          </a:p>
        </p:txBody>
      </p:sp>
      <p:sp>
        <p:nvSpPr>
          <p:cNvPr id="25" name="Step 3: Show last cancellation text"/>
          <p:cNvSpPr txBox="1"/>
          <p:nvPr/>
        </p:nvSpPr>
        <p:spPr>
          <a:xfrm>
            <a:off x="6400800" y="3148584"/>
            <a:ext cx="5120640" cy="106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LAST CANCELLED TICKET =====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Number : 101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Name : Suhani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 Name    : Avengers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 Number   : 12</a:t>
            </a:r>
            <a:endParaRPr lang="en-US" sz="1000" dirty="0"/>
          </a:p>
        </p:txBody>
      </p:sp>
      <p:sp>
        <p:nvSpPr>
          <p:cNvPr id="26" name="Step 4: Display current bookings (102 remains) window"/>
          <p:cNvSpPr/>
          <p:nvPr/>
        </p:nvSpPr>
        <p:spPr>
          <a:xfrm>
            <a:off x="6217920" y="4416552"/>
            <a:ext cx="5394960" cy="184708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7" name="Step 4: Display current bookings (102 remains) title bar"/>
          <p:cNvSpPr/>
          <p:nvPr/>
        </p:nvSpPr>
        <p:spPr>
          <a:xfrm>
            <a:off x="6217920" y="4416552"/>
            <a:ext cx="5394960" cy="29260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8" name="Window dot"/>
          <p:cNvSpPr/>
          <p:nvPr/>
        </p:nvSpPr>
        <p:spPr>
          <a:xfrm>
            <a:off x="6355080" y="45079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Window dot"/>
          <p:cNvSpPr/>
          <p:nvPr/>
        </p:nvSpPr>
        <p:spPr>
          <a:xfrm>
            <a:off x="6556248" y="4507992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Window dot"/>
          <p:cNvSpPr/>
          <p:nvPr/>
        </p:nvSpPr>
        <p:spPr>
          <a:xfrm>
            <a:off x="6757416" y="4507992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Step 4: Display current bookings (102 remains) label"/>
          <p:cNvSpPr txBox="1"/>
          <p:nvPr/>
        </p:nvSpPr>
        <p:spPr>
          <a:xfrm>
            <a:off x="7040880" y="44165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Step 4: Display current bookings (102 remains)</a:t>
            </a:r>
            <a:endParaRPr lang="en-US" sz="1100" dirty="0"/>
          </a:p>
        </p:txBody>
      </p:sp>
      <p:sp>
        <p:nvSpPr>
          <p:cNvPr id="32" name="Step 4: Display current bookings (102 remains) text"/>
          <p:cNvSpPr txBox="1"/>
          <p:nvPr/>
        </p:nvSpPr>
        <p:spPr>
          <a:xfrm>
            <a:off x="6400800" y="4800600"/>
            <a:ext cx="51206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 PENDING BOOKINGS ==========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Number : 102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Name : Suhani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 Name    : Avengers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 Number   : 13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Advantages and Limitations</a:t>
            </a:r>
            <a:endParaRPr lang="en-US" sz="3400" dirty="0"/>
          </a:p>
        </p:txBody>
      </p:sp>
      <p:sp>
        <p:nvSpPr>
          <p:cNvPr id="3" name="Advantages card"/>
          <p:cNvSpPr/>
          <p:nvPr/>
        </p:nvSpPr>
        <p:spPr>
          <a:xfrm>
            <a:off x="548640" y="132588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Advantages circle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Advant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1669237"/>
            <a:ext cx="273406" cy="273406"/>
          </a:xfrm>
          <a:prstGeom prst="rect">
            <a:avLst/>
          </a:prstGeom>
        </p:spPr>
      </p:pic>
      <p:sp>
        <p:nvSpPr>
          <p:cNvPr id="6" name="Advantages heading"/>
          <p:cNvSpPr txBox="1"/>
          <p:nvPr/>
        </p:nvSpPr>
        <p:spPr>
          <a:xfrm>
            <a:off x="1645920" y="1508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Advantages</a:t>
            </a:r>
            <a:endParaRPr lang="en-US" sz="2600" dirty="0"/>
          </a:p>
        </p:txBody>
      </p:sp>
      <p:sp>
        <p:nvSpPr>
          <p:cNvPr id="7" name="Advantages list"/>
          <p:cNvSpPr txBox="1"/>
          <p:nvPr/>
        </p:nvSpPr>
        <p:spPr>
          <a:xfrm>
            <a:off x="914400" y="237744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Simple and easy-to-understand system.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Demonstrates real-world use of data structures.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Uses both Queue and Stack.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Supports multiple ticket bookings.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Uses structures to organize ticket information.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Provides a menu-driven interface.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Demonstrates linear search and traversal.</a:t>
            </a:r>
            <a:endParaRPr lang="en-US" sz="1600" dirty="0"/>
          </a:p>
        </p:txBody>
      </p:sp>
      <p:sp>
        <p:nvSpPr>
          <p:cNvPr id="8" name="Limitations card"/>
          <p:cNvSpPr/>
          <p:nvPr/>
        </p:nvSpPr>
        <p:spPr>
          <a:xfrm>
            <a:off x="6172200" y="132588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9" name="Limitations circle"/>
          <p:cNvSpPr/>
          <p:nvPr/>
        </p:nvSpPr>
        <p:spPr>
          <a:xfrm>
            <a:off x="6446520" y="1508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Limit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997" y="1669237"/>
            <a:ext cx="273406" cy="273406"/>
          </a:xfrm>
          <a:prstGeom prst="rect">
            <a:avLst/>
          </a:prstGeom>
        </p:spPr>
      </p:pic>
      <p:sp>
        <p:nvSpPr>
          <p:cNvPr id="11" name="Limitations heading"/>
          <p:cNvSpPr txBox="1"/>
          <p:nvPr/>
        </p:nvSpPr>
        <p:spPr>
          <a:xfrm>
            <a:off x="7269480" y="1508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Limitations</a:t>
            </a:r>
            <a:endParaRPr lang="en-US" sz="2600" dirty="0"/>
          </a:p>
        </p:txBody>
      </p:sp>
      <p:sp>
        <p:nvSpPr>
          <p:cNvPr id="12" name="Limitations list"/>
          <p:cNvSpPr txBox="1"/>
          <p:nvPr/>
        </p:nvSpPr>
        <p:spPr>
          <a:xfrm>
            <a:off x="6537960" y="237744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Maximum capacity is fixed at 50.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is lost when the program terminates.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database or permanent storage is used.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Binary search is not used.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Cancellation may require shifting multiple queue elements.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Stack pop operation is not implemented.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onclusion text"/>
          <p:cNvSpPr txBox="1"/>
          <p:nvPr/>
        </p:nvSpPr>
        <p:spPr>
          <a:xfrm>
            <a:off x="548640" y="14630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Online Movie Ticket Booking System demonstrates how fundamental data structures can be applied to a real-world application.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Queue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is used to store pending bookings, while the </a:t>
            </a:r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Stack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stores cancelled tickets.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project provides a simple practical understanding of how data structures can be used to organize and manage movie ticket information.</a:t>
            </a:r>
            <a:endParaRPr lang="en-US" sz="1800" dirty="0"/>
          </a:p>
        </p:txBody>
      </p:sp>
      <p:sp>
        <p:nvSpPr>
          <p:cNvPr id="4" name="Thank you"/>
          <p:cNvSpPr txBox="1"/>
          <p:nvPr/>
        </p:nvSpPr>
        <p:spPr>
          <a:xfrm>
            <a:off x="548640" y="5486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Demonstrates heading"/>
          <p:cNvSpPr txBox="1"/>
          <p:nvPr/>
        </p:nvSpPr>
        <p:spPr>
          <a:xfrm>
            <a:off x="630936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The project also demonstrates:</a:t>
            </a:r>
            <a:endParaRPr lang="en-US" sz="2000" dirty="0"/>
          </a:p>
        </p:txBody>
      </p:sp>
      <p:sp>
        <p:nvSpPr>
          <p:cNvPr id="6" name="Structures chip"/>
          <p:cNvSpPr txBox="1"/>
          <p:nvPr/>
        </p:nvSpPr>
        <p:spPr>
          <a:xfrm>
            <a:off x="6309360" y="210312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Structures</a:t>
            </a:r>
            <a:endParaRPr lang="en-US" sz="1400" dirty="0"/>
          </a:p>
        </p:txBody>
      </p:sp>
      <p:sp>
        <p:nvSpPr>
          <p:cNvPr id="7" name="Arrays chip"/>
          <p:cNvSpPr txBox="1"/>
          <p:nvPr/>
        </p:nvSpPr>
        <p:spPr>
          <a:xfrm>
            <a:off x="8110728" y="210312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Arrays</a:t>
            </a:r>
            <a:endParaRPr lang="en-US" sz="1400" dirty="0"/>
          </a:p>
        </p:txBody>
      </p:sp>
      <p:sp>
        <p:nvSpPr>
          <p:cNvPr id="8" name="Functions chip"/>
          <p:cNvSpPr txBox="1"/>
          <p:nvPr/>
        </p:nvSpPr>
        <p:spPr>
          <a:xfrm>
            <a:off x="9912096" y="210312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Functions</a:t>
            </a:r>
            <a:endParaRPr lang="en-US" sz="1400" dirty="0"/>
          </a:p>
        </p:txBody>
      </p:sp>
      <p:sp>
        <p:nvSpPr>
          <p:cNvPr id="9" name="Queue chip"/>
          <p:cNvSpPr txBox="1"/>
          <p:nvPr/>
        </p:nvSpPr>
        <p:spPr>
          <a:xfrm>
            <a:off x="6309360" y="288036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Queue</a:t>
            </a:r>
            <a:endParaRPr lang="en-US" sz="1400" dirty="0"/>
          </a:p>
        </p:txBody>
      </p:sp>
      <p:sp>
        <p:nvSpPr>
          <p:cNvPr id="10" name="Stack chip"/>
          <p:cNvSpPr txBox="1"/>
          <p:nvPr/>
        </p:nvSpPr>
        <p:spPr>
          <a:xfrm>
            <a:off x="8110728" y="288036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Stack</a:t>
            </a:r>
            <a:endParaRPr lang="en-US" sz="1400" dirty="0"/>
          </a:p>
        </p:txBody>
      </p:sp>
      <p:sp>
        <p:nvSpPr>
          <p:cNvPr id="11" name="Push chip"/>
          <p:cNvSpPr txBox="1"/>
          <p:nvPr/>
        </p:nvSpPr>
        <p:spPr>
          <a:xfrm>
            <a:off x="9912096" y="288036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Push</a:t>
            </a:r>
            <a:endParaRPr lang="en-US" sz="1400" dirty="0"/>
          </a:p>
        </p:txBody>
      </p:sp>
      <p:sp>
        <p:nvSpPr>
          <p:cNvPr id="12" name="Linear Search chip"/>
          <p:cNvSpPr txBox="1"/>
          <p:nvPr/>
        </p:nvSpPr>
        <p:spPr>
          <a:xfrm>
            <a:off x="6309360" y="365760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Linear Search</a:t>
            </a:r>
            <a:endParaRPr lang="en-US" sz="1400" dirty="0"/>
          </a:p>
        </p:txBody>
      </p:sp>
      <p:sp>
        <p:nvSpPr>
          <p:cNvPr id="13" name="Traversal chip"/>
          <p:cNvSpPr txBox="1"/>
          <p:nvPr/>
        </p:nvSpPr>
        <p:spPr>
          <a:xfrm>
            <a:off x="8110728" y="365760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Traversal</a:t>
            </a:r>
            <a:endParaRPr lang="en-US" sz="1400" dirty="0"/>
          </a:p>
        </p:txBody>
      </p:sp>
      <p:sp>
        <p:nvSpPr>
          <p:cNvPr id="14" name="Loops chip"/>
          <p:cNvSpPr txBox="1"/>
          <p:nvPr/>
        </p:nvSpPr>
        <p:spPr>
          <a:xfrm>
            <a:off x="9912096" y="365760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Loops</a:t>
            </a:r>
            <a:endParaRPr lang="en-US" sz="1400" dirty="0"/>
          </a:p>
        </p:txBody>
      </p:sp>
      <p:sp>
        <p:nvSpPr>
          <p:cNvPr id="15" name="Switch-case chip"/>
          <p:cNvSpPr txBox="1"/>
          <p:nvPr/>
        </p:nvSpPr>
        <p:spPr>
          <a:xfrm>
            <a:off x="6309360" y="443484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Switch-case</a:t>
            </a:r>
            <a:endParaRPr lang="en-US" sz="1400" dirty="0"/>
          </a:p>
        </p:txBody>
      </p:sp>
      <p:sp>
        <p:nvSpPr>
          <p:cNvPr id="16" name="Time complexity chip"/>
          <p:cNvSpPr txBox="1"/>
          <p:nvPr/>
        </p:nvSpPr>
        <p:spPr>
          <a:xfrm>
            <a:off x="8110728" y="443484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Time complexity</a:t>
            </a:r>
            <a:endParaRPr lang="en-US" sz="1400" dirty="0"/>
          </a:p>
        </p:txBody>
      </p:sp>
      <p:sp>
        <p:nvSpPr>
          <p:cNvPr id="17" name="Space complexity chip"/>
          <p:cNvSpPr txBox="1"/>
          <p:nvPr/>
        </p:nvSpPr>
        <p:spPr>
          <a:xfrm>
            <a:off x="9912096" y="443484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Space complexity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nema Night">
  <a:themeElements>
    <a:clrScheme name="Cinema Night">
      <a:dk1>
        <a:srgbClr val="1B1226"/>
      </a:dk1>
      <a:lt1>
        <a:srgbClr val="FFFFFF"/>
      </a:lt1>
      <a:dk2>
        <a:srgbClr val="3A2A55"/>
      </a:dk2>
      <a:lt2>
        <a:srgbClr val="F4F1F8"/>
      </a:lt2>
      <a:accent1>
        <a:srgbClr val="C8102E"/>
      </a:accent1>
      <a:accent2>
        <a:srgbClr val="F2B531"/>
      </a:accent2>
      <a:accent3>
        <a:srgbClr val="147A6B"/>
      </a:accent3>
      <a:accent4>
        <a:srgbClr val="B7A9D1"/>
      </a:accent4>
      <a:accent5>
        <a:srgbClr val="E8743B"/>
      </a:accent5>
      <a:accent6>
        <a:srgbClr val="8FA8FF"/>
      </a:accent6>
      <a:hlink>
        <a:srgbClr val="8FA8FF"/>
      </a:hlink>
      <a:folHlink>
        <a:srgbClr val="B7A9D1"/>
      </a:folHlink>
    </a:clrScheme>
    <a:fontScheme name="Cinema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Movie Ticket Booking System</dc:title>
  <dc:subject>PptxGenJS Presentation</dc:subject>
  <dc:creator>PptxGenJS</dc:creator>
  <cp:lastModifiedBy>PptxGenJS</cp:lastModifiedBy>
  <cp:revision>1</cp:revision>
  <dcterms:created xsi:type="dcterms:W3CDTF">2026-10-04T13:26:31Z</dcterms:created>
  <dcterms:modified xsi:type="dcterms:W3CDTF">2026-10-04T13:26:31Z</dcterms:modified>
</cp:coreProperties>
</file>